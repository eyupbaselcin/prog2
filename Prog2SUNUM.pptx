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5" r:id="rId18"/>
    <p:sldId id="273" r:id="rId19"/>
    <p:sldId id="274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660066"/>
    <a:srgbClr val="BEE4C4"/>
    <a:srgbClr val="D3D0CF"/>
    <a:srgbClr val="DDE2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43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tıklayın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A7606-9D66-42F8-B4E3-E051FEBEB128}" type="datetimeFigureOut">
              <a:rPr lang="tr-TR" smtClean="0"/>
              <a:t>24.03.2026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9127-0B93-4DBE-966A-1F116B30A94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18013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A7606-9D66-42F8-B4E3-E051FEBEB128}" type="datetimeFigureOut">
              <a:rPr lang="tr-TR" smtClean="0"/>
              <a:t>24.03.2026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9127-0B93-4DBE-966A-1F116B30A94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81984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A7606-9D66-42F8-B4E3-E051FEBEB128}" type="datetimeFigureOut">
              <a:rPr lang="tr-TR" smtClean="0"/>
              <a:t>24.03.2026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9127-0B93-4DBE-966A-1F116B30A94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54493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A7606-9D66-42F8-B4E3-E051FEBEB128}" type="datetimeFigureOut">
              <a:rPr lang="tr-TR" smtClean="0"/>
              <a:t>24.03.2026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9127-0B93-4DBE-966A-1F116B30A94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67490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A7606-9D66-42F8-B4E3-E051FEBEB128}" type="datetimeFigureOut">
              <a:rPr lang="tr-TR" smtClean="0"/>
              <a:t>24.03.2026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9127-0B93-4DBE-966A-1F116B30A94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9809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A7606-9D66-42F8-B4E3-E051FEBEB128}" type="datetimeFigureOut">
              <a:rPr lang="tr-TR" smtClean="0"/>
              <a:t>24.03.2026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9127-0B93-4DBE-966A-1F116B30A94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26254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A7606-9D66-42F8-B4E3-E051FEBEB128}" type="datetimeFigureOut">
              <a:rPr lang="tr-TR" smtClean="0"/>
              <a:t>24.03.2026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9127-0B93-4DBE-966A-1F116B30A94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00343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A7606-9D66-42F8-B4E3-E051FEBEB128}" type="datetimeFigureOut">
              <a:rPr lang="tr-TR" smtClean="0"/>
              <a:t>24.03.2026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9127-0B93-4DBE-966A-1F116B30A94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38400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A7606-9D66-42F8-B4E3-E051FEBEB128}" type="datetimeFigureOut">
              <a:rPr lang="tr-TR" smtClean="0"/>
              <a:t>24.03.2026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9127-0B93-4DBE-966A-1F116B30A94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91579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A7606-9D66-42F8-B4E3-E051FEBEB128}" type="datetimeFigureOut">
              <a:rPr lang="tr-TR" smtClean="0"/>
              <a:t>24.03.2026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9127-0B93-4DBE-966A-1F116B30A94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1234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A7606-9D66-42F8-B4E3-E051FEBEB128}" type="datetimeFigureOut">
              <a:rPr lang="tr-TR" smtClean="0"/>
              <a:t>24.03.2026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59127-0B93-4DBE-966A-1F116B30A94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93832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A7606-9D66-42F8-B4E3-E051FEBEB128}" type="datetimeFigureOut">
              <a:rPr lang="tr-TR" smtClean="0"/>
              <a:t>24.03.2026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759127-0B93-4DBE-966A-1F116B30A94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8654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/>
          <p:cNvSpPr/>
          <p:nvPr/>
        </p:nvSpPr>
        <p:spPr>
          <a:xfrm>
            <a:off x="4541436" y="266718"/>
            <a:ext cx="717745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tr-TR" dirty="0" err="1" smtClean="0">
                <a:solidFill>
                  <a:schemeClr val="accent2">
                    <a:lumMod val="75000"/>
                  </a:schemeClr>
                </a:solidFill>
              </a:rPr>
              <a:t>private</a:t>
            </a:r>
            <a:r>
              <a:rPr lang="tr-TR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tr-TR" dirty="0" err="1" smtClean="0">
                <a:solidFill>
                  <a:schemeClr val="accent2">
                    <a:lumMod val="75000"/>
                  </a:schemeClr>
                </a:solidFill>
              </a:rPr>
              <a:t>void</a:t>
            </a:r>
            <a:r>
              <a:rPr lang="tr-TR" dirty="0" smtClean="0">
                <a:solidFill>
                  <a:schemeClr val="accent2">
                    <a:lumMod val="75000"/>
                  </a:schemeClr>
                </a:solidFill>
              </a:rPr>
              <a:t> jButton1_hesaplaActionPerformed(</a:t>
            </a:r>
            <a:r>
              <a:rPr lang="tr-TR" dirty="0" err="1" smtClean="0">
                <a:solidFill>
                  <a:schemeClr val="accent2">
                    <a:lumMod val="75000"/>
                  </a:schemeClr>
                </a:solidFill>
              </a:rPr>
              <a:t>java.awt.event.ActionEvent</a:t>
            </a:r>
            <a:r>
              <a:rPr lang="tr-TR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tr-TR" dirty="0" err="1" smtClean="0">
                <a:solidFill>
                  <a:schemeClr val="accent2">
                    <a:lumMod val="75000"/>
                  </a:schemeClr>
                </a:solidFill>
              </a:rPr>
              <a:t>evt</a:t>
            </a:r>
            <a:r>
              <a:rPr lang="tr-TR" dirty="0" smtClean="0">
                <a:solidFill>
                  <a:schemeClr val="accent2">
                    <a:lumMod val="75000"/>
                  </a:schemeClr>
                </a:solidFill>
              </a:rPr>
              <a:t>) {                                                 </a:t>
            </a:r>
          </a:p>
          <a:p>
            <a:r>
              <a:rPr lang="tr-TR" dirty="0" smtClean="0">
                <a:solidFill>
                  <a:schemeClr val="accent2">
                    <a:lumMod val="75000"/>
                  </a:schemeClr>
                </a:solidFill>
              </a:rPr>
              <a:t>        // TODO </a:t>
            </a:r>
            <a:r>
              <a:rPr lang="tr-TR" dirty="0" err="1" smtClean="0">
                <a:solidFill>
                  <a:schemeClr val="accent2">
                    <a:lumMod val="75000"/>
                  </a:schemeClr>
                </a:solidFill>
              </a:rPr>
              <a:t>add</a:t>
            </a:r>
            <a:r>
              <a:rPr lang="tr-TR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tr-TR" dirty="0" err="1" smtClean="0">
                <a:solidFill>
                  <a:schemeClr val="accent2">
                    <a:lumMod val="75000"/>
                  </a:schemeClr>
                </a:solidFill>
              </a:rPr>
              <a:t>your</a:t>
            </a:r>
            <a:r>
              <a:rPr lang="tr-TR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tr-TR" dirty="0" err="1" smtClean="0">
                <a:solidFill>
                  <a:schemeClr val="accent2">
                    <a:lumMod val="75000"/>
                  </a:schemeClr>
                </a:solidFill>
              </a:rPr>
              <a:t>handling</a:t>
            </a:r>
            <a:r>
              <a:rPr lang="tr-TR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tr-TR" dirty="0" err="1" smtClean="0">
                <a:solidFill>
                  <a:schemeClr val="accent2">
                    <a:lumMod val="75000"/>
                  </a:schemeClr>
                </a:solidFill>
              </a:rPr>
              <a:t>code</a:t>
            </a:r>
            <a:r>
              <a:rPr lang="tr-TR" dirty="0" smtClean="0">
                <a:solidFill>
                  <a:schemeClr val="accent2">
                    <a:lumMod val="75000"/>
                  </a:schemeClr>
                </a:solidFill>
              </a:rPr>
              <a:t> here:</a:t>
            </a:r>
          </a:p>
          <a:p>
            <a:r>
              <a:rPr lang="tr-TR" dirty="0" smtClean="0">
                <a:solidFill>
                  <a:schemeClr val="accent2">
                    <a:lumMod val="75000"/>
                  </a:schemeClr>
                </a:solidFill>
              </a:rPr>
              <a:t>        </a:t>
            </a:r>
            <a:r>
              <a:rPr lang="tr-TR" dirty="0" err="1" smtClean="0">
                <a:solidFill>
                  <a:schemeClr val="accent2">
                    <a:lumMod val="75000"/>
                  </a:schemeClr>
                </a:solidFill>
              </a:rPr>
              <a:t>int</a:t>
            </a:r>
            <a:r>
              <a:rPr lang="tr-TR" dirty="0" smtClean="0">
                <a:solidFill>
                  <a:schemeClr val="accent2">
                    <a:lumMod val="75000"/>
                  </a:schemeClr>
                </a:solidFill>
              </a:rPr>
              <a:t> sayi1,sayi2,toplam;</a:t>
            </a:r>
          </a:p>
          <a:p>
            <a:r>
              <a:rPr lang="tr-TR" dirty="0" smtClean="0">
                <a:solidFill>
                  <a:schemeClr val="accent2">
                    <a:lumMod val="75000"/>
                  </a:schemeClr>
                </a:solidFill>
              </a:rPr>
              <a:t>        </a:t>
            </a:r>
          </a:p>
          <a:p>
            <a:r>
              <a:rPr lang="tr-TR" dirty="0" smtClean="0">
                <a:solidFill>
                  <a:schemeClr val="accent2">
                    <a:lumMod val="75000"/>
                  </a:schemeClr>
                </a:solidFill>
              </a:rPr>
              <a:t>        sayi1 =</a:t>
            </a:r>
            <a:r>
              <a:rPr lang="tr-TR" dirty="0" err="1" smtClean="0">
                <a:solidFill>
                  <a:schemeClr val="accent2">
                    <a:lumMod val="75000"/>
                  </a:schemeClr>
                </a:solidFill>
              </a:rPr>
              <a:t>Integer.parseInt</a:t>
            </a:r>
            <a:r>
              <a:rPr lang="tr-TR" dirty="0" smtClean="0">
                <a:solidFill>
                  <a:schemeClr val="accent2">
                    <a:lumMod val="75000"/>
                  </a:schemeClr>
                </a:solidFill>
              </a:rPr>
              <a:t>(jTextField1.getText()); // sayıyı </a:t>
            </a:r>
            <a:r>
              <a:rPr lang="tr-TR" dirty="0" err="1" smtClean="0">
                <a:solidFill>
                  <a:schemeClr val="accent2">
                    <a:lumMod val="75000"/>
                  </a:schemeClr>
                </a:solidFill>
              </a:rPr>
              <a:t>integer'e</a:t>
            </a:r>
            <a:r>
              <a:rPr lang="tr-TR" dirty="0" smtClean="0">
                <a:solidFill>
                  <a:schemeClr val="accent2">
                    <a:lumMod val="75000"/>
                  </a:schemeClr>
                </a:solidFill>
              </a:rPr>
              <a:t> çevirir</a:t>
            </a:r>
          </a:p>
          <a:p>
            <a:r>
              <a:rPr lang="tr-TR" dirty="0" smtClean="0">
                <a:solidFill>
                  <a:schemeClr val="accent2">
                    <a:lumMod val="75000"/>
                  </a:schemeClr>
                </a:solidFill>
              </a:rPr>
              <a:t>        </a:t>
            </a:r>
          </a:p>
          <a:p>
            <a:r>
              <a:rPr lang="tr-TR" dirty="0" smtClean="0">
                <a:solidFill>
                  <a:schemeClr val="accent2">
                    <a:lumMod val="75000"/>
                  </a:schemeClr>
                </a:solidFill>
              </a:rPr>
              <a:t>        sayi2 = </a:t>
            </a:r>
            <a:r>
              <a:rPr lang="tr-TR" dirty="0" err="1" smtClean="0">
                <a:solidFill>
                  <a:schemeClr val="accent2">
                    <a:lumMod val="75000"/>
                  </a:schemeClr>
                </a:solidFill>
              </a:rPr>
              <a:t>Integer.parseInt</a:t>
            </a:r>
            <a:r>
              <a:rPr lang="tr-TR" dirty="0" smtClean="0">
                <a:solidFill>
                  <a:schemeClr val="accent2">
                    <a:lumMod val="75000"/>
                  </a:schemeClr>
                </a:solidFill>
              </a:rPr>
              <a:t>(jTextField2.getText()); // sayıyı </a:t>
            </a:r>
            <a:r>
              <a:rPr lang="tr-TR" dirty="0" err="1" smtClean="0">
                <a:solidFill>
                  <a:schemeClr val="accent2">
                    <a:lumMod val="75000"/>
                  </a:schemeClr>
                </a:solidFill>
              </a:rPr>
              <a:t>integer'e</a:t>
            </a:r>
            <a:r>
              <a:rPr lang="tr-TR" dirty="0" smtClean="0">
                <a:solidFill>
                  <a:schemeClr val="accent2">
                    <a:lumMod val="75000"/>
                  </a:schemeClr>
                </a:solidFill>
              </a:rPr>
              <a:t> çevirir</a:t>
            </a:r>
          </a:p>
          <a:p>
            <a:r>
              <a:rPr lang="tr-TR" dirty="0" smtClean="0">
                <a:solidFill>
                  <a:schemeClr val="accent2">
                    <a:lumMod val="75000"/>
                  </a:schemeClr>
                </a:solidFill>
              </a:rPr>
              <a:t>        </a:t>
            </a:r>
          </a:p>
          <a:p>
            <a:r>
              <a:rPr lang="tr-TR" dirty="0" smtClean="0">
                <a:solidFill>
                  <a:schemeClr val="accent2">
                    <a:lumMod val="75000"/>
                  </a:schemeClr>
                </a:solidFill>
              </a:rPr>
              <a:t>        toplam = sayi1 + sayi2; // verilen iki sayıyı toplar</a:t>
            </a:r>
          </a:p>
          <a:p>
            <a:r>
              <a:rPr lang="tr-TR" dirty="0" smtClean="0">
                <a:solidFill>
                  <a:schemeClr val="accent2">
                    <a:lumMod val="75000"/>
                  </a:schemeClr>
                </a:solidFill>
              </a:rPr>
              <a:t>        </a:t>
            </a:r>
          </a:p>
          <a:p>
            <a:r>
              <a:rPr lang="tr-TR" dirty="0" smtClean="0">
                <a:solidFill>
                  <a:schemeClr val="accent2">
                    <a:lumMod val="75000"/>
                  </a:schemeClr>
                </a:solidFill>
              </a:rPr>
              <a:t>        </a:t>
            </a:r>
            <a:r>
              <a:rPr lang="tr-TR" dirty="0" err="1" smtClean="0">
                <a:solidFill>
                  <a:schemeClr val="accent2">
                    <a:lumMod val="75000"/>
                  </a:schemeClr>
                </a:solidFill>
              </a:rPr>
              <a:t>lblToplam.setText</a:t>
            </a:r>
            <a:r>
              <a:rPr lang="tr-TR" dirty="0" smtClean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tr-TR" dirty="0" err="1" smtClean="0">
                <a:solidFill>
                  <a:schemeClr val="accent2">
                    <a:lumMod val="75000"/>
                  </a:schemeClr>
                </a:solidFill>
              </a:rPr>
              <a:t>String.valueOf</a:t>
            </a:r>
            <a:r>
              <a:rPr lang="tr-TR" dirty="0" smtClean="0">
                <a:solidFill>
                  <a:schemeClr val="accent2">
                    <a:lumMod val="75000"/>
                  </a:schemeClr>
                </a:solidFill>
              </a:rPr>
              <a:t>(toplam)); // </a:t>
            </a:r>
            <a:r>
              <a:rPr lang="tr-TR" dirty="0" err="1" smtClean="0">
                <a:solidFill>
                  <a:schemeClr val="accent2">
                    <a:lumMod val="75000"/>
                  </a:schemeClr>
                </a:solidFill>
              </a:rPr>
              <a:t>stringe</a:t>
            </a:r>
            <a:r>
              <a:rPr lang="tr-TR" dirty="0" smtClean="0">
                <a:solidFill>
                  <a:schemeClr val="accent2">
                    <a:lumMod val="75000"/>
                  </a:schemeClr>
                </a:solidFill>
              </a:rPr>
              <a:t> dönüştürülüp </a:t>
            </a:r>
            <a:r>
              <a:rPr lang="tr-TR" dirty="0" err="1" smtClean="0">
                <a:solidFill>
                  <a:schemeClr val="accent2">
                    <a:lumMod val="75000"/>
                  </a:schemeClr>
                </a:solidFill>
              </a:rPr>
              <a:t>JLabele</a:t>
            </a:r>
            <a:r>
              <a:rPr lang="tr-TR" dirty="0" smtClean="0">
                <a:solidFill>
                  <a:schemeClr val="accent2">
                    <a:lumMod val="75000"/>
                  </a:schemeClr>
                </a:solidFill>
              </a:rPr>
              <a:t> yazdırılır</a:t>
            </a:r>
          </a:p>
          <a:p>
            <a:r>
              <a:rPr lang="tr-TR" dirty="0" smtClean="0">
                <a:solidFill>
                  <a:schemeClr val="accent2">
                    <a:lumMod val="75000"/>
                  </a:schemeClr>
                </a:solidFill>
              </a:rPr>
              <a:t>        </a:t>
            </a:r>
          </a:p>
          <a:p>
            <a:r>
              <a:rPr lang="tr-TR" dirty="0" smtClean="0">
                <a:solidFill>
                  <a:schemeClr val="accent2">
                    <a:lumMod val="75000"/>
                  </a:schemeClr>
                </a:solidFill>
              </a:rPr>
              <a:t>        </a:t>
            </a:r>
          </a:p>
          <a:p>
            <a:r>
              <a:rPr lang="tr-TR" dirty="0" smtClean="0">
                <a:solidFill>
                  <a:schemeClr val="accent2">
                    <a:lumMod val="75000"/>
                  </a:schemeClr>
                </a:solidFill>
              </a:rPr>
              <a:t>    } </a:t>
            </a:r>
            <a:endParaRPr lang="tr-TR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240823" cy="362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549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21461"/>
            <a:ext cx="3466341" cy="2669015"/>
          </a:xfrm>
          <a:prstGeom prst="rect">
            <a:avLst/>
          </a:prstGeom>
        </p:spPr>
      </p:pic>
      <p:sp>
        <p:nvSpPr>
          <p:cNvPr id="5" name="Dikdörtgen 4"/>
          <p:cNvSpPr/>
          <p:nvPr/>
        </p:nvSpPr>
        <p:spPr>
          <a:xfrm>
            <a:off x="3842590" y="932688"/>
            <a:ext cx="715764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tr-TR" dirty="0" err="1" smtClean="0">
                <a:solidFill>
                  <a:schemeClr val="accent5">
                    <a:lumMod val="75000"/>
                  </a:schemeClr>
                </a:solidFill>
              </a:rPr>
              <a:t>private</a:t>
            </a:r>
            <a:r>
              <a:rPr lang="tr-TR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tr-TR" dirty="0" err="1" smtClean="0">
                <a:solidFill>
                  <a:schemeClr val="accent5">
                    <a:lumMod val="75000"/>
                  </a:schemeClr>
                </a:solidFill>
              </a:rPr>
              <a:t>void</a:t>
            </a:r>
            <a:endParaRPr lang="tr-TR" dirty="0" smtClean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tr-TR" dirty="0" smtClean="0">
                <a:solidFill>
                  <a:schemeClr val="accent5">
                    <a:lumMod val="75000"/>
                  </a:schemeClr>
                </a:solidFill>
              </a:rPr>
              <a:t> jButton1MouseEntered(</a:t>
            </a:r>
            <a:r>
              <a:rPr lang="tr-TR" dirty="0" err="1" smtClean="0">
                <a:solidFill>
                  <a:schemeClr val="accent5">
                    <a:lumMod val="75000"/>
                  </a:schemeClr>
                </a:solidFill>
              </a:rPr>
              <a:t>java.awt.event.MouseEvent</a:t>
            </a:r>
            <a:r>
              <a:rPr lang="tr-TR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tr-TR" dirty="0" err="1" smtClean="0">
                <a:solidFill>
                  <a:schemeClr val="accent5">
                    <a:lumMod val="75000"/>
                  </a:schemeClr>
                </a:solidFill>
              </a:rPr>
              <a:t>evt</a:t>
            </a:r>
            <a:r>
              <a:rPr lang="tr-TR" dirty="0" smtClean="0">
                <a:solidFill>
                  <a:schemeClr val="accent5">
                    <a:lumMod val="75000"/>
                  </a:schemeClr>
                </a:solidFill>
              </a:rPr>
              <a:t>) {                                      </a:t>
            </a:r>
          </a:p>
          <a:p>
            <a:r>
              <a:rPr lang="tr-TR" dirty="0" smtClean="0">
                <a:solidFill>
                  <a:schemeClr val="accent5">
                    <a:lumMod val="75000"/>
                  </a:schemeClr>
                </a:solidFill>
              </a:rPr>
              <a:t>        jButton2.setText("Merhaba"); //fare ile </a:t>
            </a:r>
            <a:r>
              <a:rPr lang="tr-TR" dirty="0" err="1" smtClean="0">
                <a:solidFill>
                  <a:schemeClr val="accent5">
                    <a:lumMod val="75000"/>
                  </a:schemeClr>
                </a:solidFill>
              </a:rPr>
              <a:t>buttonu</a:t>
            </a:r>
            <a:r>
              <a:rPr lang="tr-TR" dirty="0" smtClean="0">
                <a:solidFill>
                  <a:schemeClr val="accent5">
                    <a:lumMod val="75000"/>
                  </a:schemeClr>
                </a:solidFill>
              </a:rPr>
              <a:t> gittiğimiz zaman </a:t>
            </a:r>
          </a:p>
          <a:p>
            <a:r>
              <a:rPr lang="tr-TR" dirty="0" smtClean="0">
                <a:solidFill>
                  <a:schemeClr val="accent5">
                    <a:lumMod val="75000"/>
                  </a:schemeClr>
                </a:solidFill>
              </a:rPr>
              <a:t>        // buttun2 </a:t>
            </a:r>
            <a:r>
              <a:rPr lang="tr-TR" dirty="0" err="1" smtClean="0">
                <a:solidFill>
                  <a:schemeClr val="accent5">
                    <a:lumMod val="75000"/>
                  </a:schemeClr>
                </a:solidFill>
              </a:rPr>
              <a:t>içerisne</a:t>
            </a:r>
            <a:r>
              <a:rPr lang="tr-TR" dirty="0" smtClean="0">
                <a:solidFill>
                  <a:schemeClr val="accent5">
                    <a:lumMod val="75000"/>
                  </a:schemeClr>
                </a:solidFill>
              </a:rPr>
              <a:t> merhaba yaz</a:t>
            </a:r>
          </a:p>
          <a:p>
            <a:r>
              <a:rPr lang="tr-TR" dirty="0" smtClean="0">
                <a:solidFill>
                  <a:schemeClr val="accent5">
                    <a:lumMod val="75000"/>
                  </a:schemeClr>
                </a:solidFill>
              </a:rPr>
              <a:t>        jLabel1.setText("BU KISIM AKIF");</a:t>
            </a:r>
          </a:p>
          <a:p>
            <a:r>
              <a:rPr lang="tr-TR" dirty="0" smtClean="0">
                <a:solidFill>
                  <a:schemeClr val="accent5">
                    <a:lumMod val="75000"/>
                  </a:schemeClr>
                </a:solidFill>
              </a:rPr>
              <a:t>                </a:t>
            </a:r>
          </a:p>
          <a:p>
            <a:r>
              <a:rPr lang="tr-TR" dirty="0" smtClean="0">
                <a:solidFill>
                  <a:schemeClr val="accent5">
                    <a:lumMod val="75000"/>
                  </a:schemeClr>
                </a:solidFill>
              </a:rPr>
              <a:t>    }                                     </a:t>
            </a:r>
          </a:p>
          <a:p>
            <a:r>
              <a:rPr lang="tr-TR" dirty="0" smtClean="0">
                <a:solidFill>
                  <a:schemeClr val="accent5">
                    <a:lumMod val="75000"/>
                  </a:schemeClr>
                </a:solidFill>
              </a:rPr>
              <a:t>    </a:t>
            </a:r>
            <a:r>
              <a:rPr lang="tr-TR" dirty="0" err="1" smtClean="0">
                <a:solidFill>
                  <a:schemeClr val="accent5">
                    <a:lumMod val="75000"/>
                  </a:schemeClr>
                </a:solidFill>
              </a:rPr>
              <a:t>private</a:t>
            </a:r>
            <a:r>
              <a:rPr lang="tr-TR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tr-TR" dirty="0" err="1" smtClean="0">
                <a:solidFill>
                  <a:schemeClr val="accent5">
                    <a:lumMod val="75000"/>
                  </a:schemeClr>
                </a:solidFill>
              </a:rPr>
              <a:t>void</a:t>
            </a:r>
            <a:r>
              <a:rPr lang="tr-TR" dirty="0" smtClean="0">
                <a:solidFill>
                  <a:schemeClr val="accent5">
                    <a:lumMod val="75000"/>
                  </a:schemeClr>
                </a:solidFill>
              </a:rPr>
              <a:t> jButton2ActionPerformed(</a:t>
            </a:r>
            <a:r>
              <a:rPr lang="tr-TR" dirty="0" err="1" smtClean="0">
                <a:solidFill>
                  <a:schemeClr val="accent5">
                    <a:lumMod val="75000"/>
                  </a:schemeClr>
                </a:solidFill>
              </a:rPr>
              <a:t>java.awt.event.ActionEvent</a:t>
            </a:r>
            <a:r>
              <a:rPr lang="tr-TR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tr-TR" dirty="0" err="1" smtClean="0">
                <a:solidFill>
                  <a:schemeClr val="accent5">
                    <a:lumMod val="75000"/>
                  </a:schemeClr>
                </a:solidFill>
              </a:rPr>
              <a:t>evt</a:t>
            </a:r>
            <a:r>
              <a:rPr lang="tr-TR" dirty="0" smtClean="0">
                <a:solidFill>
                  <a:schemeClr val="accent5">
                    <a:lumMod val="75000"/>
                  </a:schemeClr>
                </a:solidFill>
              </a:rPr>
              <a:t>) {                                         </a:t>
            </a:r>
          </a:p>
          <a:p>
            <a:r>
              <a:rPr lang="tr-TR" dirty="0" smtClean="0">
                <a:solidFill>
                  <a:schemeClr val="accent5">
                    <a:lumMod val="75000"/>
                  </a:schemeClr>
                </a:solidFill>
              </a:rPr>
              <a:t>        // TODO </a:t>
            </a:r>
            <a:r>
              <a:rPr lang="tr-TR" dirty="0" err="1" smtClean="0">
                <a:solidFill>
                  <a:schemeClr val="accent5">
                    <a:lumMod val="75000"/>
                  </a:schemeClr>
                </a:solidFill>
              </a:rPr>
              <a:t>add</a:t>
            </a:r>
            <a:r>
              <a:rPr lang="tr-TR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tr-TR" dirty="0" err="1" smtClean="0">
                <a:solidFill>
                  <a:schemeClr val="accent5">
                    <a:lumMod val="75000"/>
                  </a:schemeClr>
                </a:solidFill>
              </a:rPr>
              <a:t>your</a:t>
            </a:r>
            <a:r>
              <a:rPr lang="tr-TR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tr-TR" dirty="0" err="1" smtClean="0">
                <a:solidFill>
                  <a:schemeClr val="accent5">
                    <a:lumMod val="75000"/>
                  </a:schemeClr>
                </a:solidFill>
              </a:rPr>
              <a:t>handling</a:t>
            </a:r>
            <a:r>
              <a:rPr lang="tr-TR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tr-TR" dirty="0" err="1" smtClean="0">
                <a:solidFill>
                  <a:schemeClr val="accent5">
                    <a:lumMod val="75000"/>
                  </a:schemeClr>
                </a:solidFill>
              </a:rPr>
              <a:t>code</a:t>
            </a:r>
            <a:r>
              <a:rPr lang="tr-TR" dirty="0" smtClean="0">
                <a:solidFill>
                  <a:schemeClr val="accent5">
                    <a:lumMod val="75000"/>
                  </a:schemeClr>
                </a:solidFill>
              </a:rPr>
              <a:t> here:</a:t>
            </a:r>
          </a:p>
          <a:p>
            <a:r>
              <a:rPr lang="tr-TR" dirty="0" smtClean="0">
                <a:solidFill>
                  <a:schemeClr val="accent5">
                    <a:lumMod val="75000"/>
                  </a:schemeClr>
                </a:solidFill>
              </a:rPr>
              <a:t>        jLabel1.setText("</a:t>
            </a:r>
            <a:r>
              <a:rPr lang="tr-TR" dirty="0" err="1" smtClean="0">
                <a:solidFill>
                  <a:schemeClr val="accent5">
                    <a:lumMod val="75000"/>
                  </a:schemeClr>
                </a:solidFill>
              </a:rPr>
              <a:t>Label</a:t>
            </a:r>
            <a:r>
              <a:rPr lang="tr-TR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tr-TR" dirty="0" err="1" smtClean="0">
                <a:solidFill>
                  <a:schemeClr val="accent5">
                    <a:lumMod val="75000"/>
                  </a:schemeClr>
                </a:solidFill>
              </a:rPr>
              <a:t>Texti</a:t>
            </a:r>
            <a:r>
              <a:rPr lang="tr-TR" dirty="0" smtClean="0">
                <a:solidFill>
                  <a:schemeClr val="accent5">
                    <a:lumMod val="75000"/>
                  </a:schemeClr>
                </a:solidFill>
              </a:rPr>
              <a:t> değişti");</a:t>
            </a:r>
          </a:p>
          <a:p>
            <a:r>
              <a:rPr lang="tr-TR" dirty="0" smtClean="0">
                <a:solidFill>
                  <a:schemeClr val="accent5">
                    <a:lumMod val="75000"/>
                  </a:schemeClr>
                </a:solidFill>
              </a:rPr>
              <a:t>        //button2 ye tıkladığı zaman metni yaz</a:t>
            </a:r>
          </a:p>
          <a:p>
            <a:r>
              <a:rPr lang="tr-TR" dirty="0" smtClean="0">
                <a:solidFill>
                  <a:schemeClr val="accent5">
                    <a:lumMod val="75000"/>
                  </a:schemeClr>
                </a:solidFill>
              </a:rPr>
              <a:t>    }                                        </a:t>
            </a:r>
          </a:p>
          <a:p>
            <a:r>
              <a:rPr lang="tr-TR" dirty="0" smtClean="0">
                <a:solidFill>
                  <a:schemeClr val="accent5">
                    <a:lumMod val="75000"/>
                  </a:schemeClr>
                </a:solidFill>
              </a:rPr>
              <a:t>    </a:t>
            </a:r>
            <a:r>
              <a:rPr lang="tr-TR" dirty="0" err="1" smtClean="0">
                <a:solidFill>
                  <a:schemeClr val="accent5">
                    <a:lumMod val="75000"/>
                  </a:schemeClr>
                </a:solidFill>
              </a:rPr>
              <a:t>private</a:t>
            </a:r>
            <a:r>
              <a:rPr lang="tr-TR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tr-TR" dirty="0" err="1" smtClean="0">
                <a:solidFill>
                  <a:schemeClr val="accent5">
                    <a:lumMod val="75000"/>
                  </a:schemeClr>
                </a:solidFill>
              </a:rPr>
              <a:t>void</a:t>
            </a:r>
            <a:r>
              <a:rPr lang="tr-TR" dirty="0" smtClean="0">
                <a:solidFill>
                  <a:schemeClr val="accent5">
                    <a:lumMod val="75000"/>
                  </a:schemeClr>
                </a:solidFill>
              </a:rPr>
              <a:t> jButton1MouseExited(</a:t>
            </a:r>
            <a:r>
              <a:rPr lang="tr-TR" dirty="0" err="1" smtClean="0">
                <a:solidFill>
                  <a:schemeClr val="accent5">
                    <a:lumMod val="75000"/>
                  </a:schemeClr>
                </a:solidFill>
              </a:rPr>
              <a:t>java.awt.event.MouseEvent</a:t>
            </a:r>
            <a:r>
              <a:rPr lang="tr-TR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tr-TR" dirty="0" err="1" smtClean="0">
                <a:solidFill>
                  <a:schemeClr val="accent5">
                    <a:lumMod val="75000"/>
                  </a:schemeClr>
                </a:solidFill>
              </a:rPr>
              <a:t>evt</a:t>
            </a:r>
            <a:r>
              <a:rPr lang="tr-TR" dirty="0" smtClean="0">
                <a:solidFill>
                  <a:schemeClr val="accent5">
                    <a:lumMod val="75000"/>
                  </a:schemeClr>
                </a:solidFill>
              </a:rPr>
              <a:t>) {                                     </a:t>
            </a:r>
          </a:p>
          <a:p>
            <a:r>
              <a:rPr lang="tr-TR" dirty="0" smtClean="0">
                <a:solidFill>
                  <a:schemeClr val="accent5">
                    <a:lumMod val="75000"/>
                  </a:schemeClr>
                </a:solidFill>
              </a:rPr>
              <a:t>        jLabel1.setText("çıkış </a:t>
            </a:r>
            <a:r>
              <a:rPr lang="tr-TR" dirty="0" err="1" smtClean="0">
                <a:solidFill>
                  <a:schemeClr val="accent5">
                    <a:lumMod val="75000"/>
                  </a:schemeClr>
                </a:solidFill>
              </a:rPr>
              <a:t>yaıldı</a:t>
            </a:r>
            <a:r>
              <a:rPr lang="tr-TR" dirty="0" smtClean="0">
                <a:solidFill>
                  <a:schemeClr val="accent5">
                    <a:lumMod val="75000"/>
                  </a:schemeClr>
                </a:solidFill>
              </a:rPr>
              <a:t>");</a:t>
            </a:r>
          </a:p>
          <a:p>
            <a:r>
              <a:rPr lang="tr-TR" dirty="0" smtClean="0">
                <a:solidFill>
                  <a:schemeClr val="accent5">
                    <a:lumMod val="75000"/>
                  </a:schemeClr>
                </a:solidFill>
              </a:rPr>
              <a:t>    }                                    </a:t>
            </a:r>
          </a:p>
          <a:p>
            <a:r>
              <a:rPr lang="tr-TR" dirty="0" smtClean="0">
                <a:solidFill>
                  <a:schemeClr val="accent5">
                    <a:lumMod val="75000"/>
                  </a:schemeClr>
                </a:solidFill>
              </a:rPr>
              <a:t>  </a:t>
            </a:r>
            <a:r>
              <a:rPr lang="tr-TR" dirty="0" err="1" smtClean="0">
                <a:solidFill>
                  <a:schemeClr val="accent5">
                    <a:lumMod val="75000"/>
                  </a:schemeClr>
                </a:solidFill>
              </a:rPr>
              <a:t>private</a:t>
            </a:r>
            <a:r>
              <a:rPr lang="tr-TR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tr-TR" dirty="0" err="1" smtClean="0">
                <a:solidFill>
                  <a:schemeClr val="accent5">
                    <a:lumMod val="75000"/>
                  </a:schemeClr>
                </a:solidFill>
              </a:rPr>
              <a:t>void</a:t>
            </a:r>
            <a:r>
              <a:rPr lang="tr-TR" dirty="0" smtClean="0">
                <a:solidFill>
                  <a:schemeClr val="accent5">
                    <a:lumMod val="75000"/>
                  </a:schemeClr>
                </a:solidFill>
              </a:rPr>
              <a:t> jButton1ActionPerformed(</a:t>
            </a:r>
            <a:r>
              <a:rPr lang="tr-TR" dirty="0" err="1" smtClean="0">
                <a:solidFill>
                  <a:schemeClr val="accent5">
                    <a:lumMod val="75000"/>
                  </a:schemeClr>
                </a:solidFill>
              </a:rPr>
              <a:t>java.awt.event.ActionEvent</a:t>
            </a:r>
            <a:r>
              <a:rPr lang="tr-TR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tr-TR" dirty="0" err="1" smtClean="0">
                <a:solidFill>
                  <a:schemeClr val="accent5">
                    <a:lumMod val="75000"/>
                  </a:schemeClr>
                </a:solidFill>
              </a:rPr>
              <a:t>evt</a:t>
            </a:r>
            <a:r>
              <a:rPr lang="tr-TR" dirty="0" smtClean="0">
                <a:solidFill>
                  <a:schemeClr val="accent5">
                    <a:lumMod val="75000"/>
                  </a:schemeClr>
                </a:solidFill>
              </a:rPr>
              <a:t>) {                                         </a:t>
            </a:r>
          </a:p>
          <a:p>
            <a:r>
              <a:rPr lang="tr-TR" dirty="0" smtClean="0">
                <a:solidFill>
                  <a:schemeClr val="accent5">
                    <a:lumMod val="75000"/>
                  </a:schemeClr>
                </a:solidFill>
              </a:rPr>
              <a:t>        jLabel1.setText("Hareketlilik var");</a:t>
            </a:r>
          </a:p>
          <a:p>
            <a:r>
              <a:rPr lang="tr-TR" dirty="0" smtClean="0">
                <a:solidFill>
                  <a:schemeClr val="accent5">
                    <a:lumMod val="75000"/>
                  </a:schemeClr>
                </a:solidFill>
              </a:rPr>
              <a:t>    } </a:t>
            </a:r>
            <a:endParaRPr lang="tr-TR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3860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432" y="46815"/>
            <a:ext cx="3493927" cy="2632137"/>
          </a:xfrm>
          <a:prstGeom prst="rect">
            <a:avLst/>
          </a:prstGeom>
        </p:spPr>
      </p:pic>
      <p:sp>
        <p:nvSpPr>
          <p:cNvPr id="6" name="Dikdörtgen 5"/>
          <p:cNvSpPr/>
          <p:nvPr/>
        </p:nvSpPr>
        <p:spPr>
          <a:xfrm>
            <a:off x="3578352" y="46815"/>
            <a:ext cx="526389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public</a:t>
            </a:r>
            <a:r>
              <a:rPr lang="tr-TR" dirty="0" smtClean="0">
                <a:solidFill>
                  <a:srgbClr val="FF0000"/>
                </a:solidFill>
              </a:rPr>
              <a:t> NewJFrame2() {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    </a:t>
            </a:r>
            <a:r>
              <a:rPr lang="tr-TR" dirty="0" err="1" smtClean="0">
                <a:solidFill>
                  <a:srgbClr val="FF0000"/>
                </a:solidFill>
              </a:rPr>
              <a:t>initComponents</a:t>
            </a:r>
            <a:r>
              <a:rPr lang="tr-TR" dirty="0" smtClean="0">
                <a:solidFill>
                  <a:srgbClr val="FF0000"/>
                </a:solidFill>
              </a:rPr>
              <a:t>();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    jButton1.setText("Evet");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    jButton2.setText("Hayır");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    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    jLabel1.setText("BEN GAYİM");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    jLabel2.setText("");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}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7" name="Dikdörtgen 6"/>
          <p:cNvSpPr/>
          <p:nvPr/>
        </p:nvSpPr>
        <p:spPr>
          <a:xfrm>
            <a:off x="3758184" y="2203705"/>
            <a:ext cx="1156106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private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void</a:t>
            </a:r>
            <a:r>
              <a:rPr lang="tr-TR" dirty="0" smtClean="0">
                <a:solidFill>
                  <a:srgbClr val="FF0000"/>
                </a:solidFill>
              </a:rPr>
              <a:t> jButton1ActionPerformed(</a:t>
            </a:r>
            <a:r>
              <a:rPr lang="tr-TR" dirty="0" err="1" smtClean="0">
                <a:solidFill>
                  <a:srgbClr val="FF0000"/>
                </a:solidFill>
              </a:rPr>
              <a:t>java.awt.event.ActionEvent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evt</a:t>
            </a:r>
            <a:r>
              <a:rPr lang="tr-TR" dirty="0" smtClean="0">
                <a:solidFill>
                  <a:srgbClr val="FF0000"/>
                </a:solidFill>
              </a:rPr>
              <a:t>) {                                         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jLabel2.setText("Tamam </a:t>
            </a:r>
            <a:r>
              <a:rPr lang="tr-TR" dirty="0" err="1" smtClean="0">
                <a:solidFill>
                  <a:srgbClr val="FF0000"/>
                </a:solidFill>
              </a:rPr>
              <a:t>amladık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gaysin</a:t>
            </a:r>
            <a:r>
              <a:rPr lang="tr-TR" dirty="0" smtClean="0">
                <a:solidFill>
                  <a:srgbClr val="FF0000"/>
                </a:solidFill>
              </a:rPr>
              <a:t> :) ");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}                                        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</a:t>
            </a:r>
            <a:r>
              <a:rPr lang="tr-TR" dirty="0" err="1" smtClean="0">
                <a:solidFill>
                  <a:srgbClr val="FF0000"/>
                </a:solidFill>
              </a:rPr>
              <a:t>private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void</a:t>
            </a:r>
            <a:r>
              <a:rPr lang="tr-TR" dirty="0" smtClean="0">
                <a:solidFill>
                  <a:srgbClr val="FF0000"/>
                </a:solidFill>
              </a:rPr>
              <a:t> jButton2ActionPerformed(</a:t>
            </a:r>
            <a:r>
              <a:rPr lang="tr-TR" dirty="0" err="1" smtClean="0">
                <a:solidFill>
                  <a:srgbClr val="FF0000"/>
                </a:solidFill>
              </a:rPr>
              <a:t>java.awt.event.ActionEvent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evt</a:t>
            </a:r>
            <a:r>
              <a:rPr lang="tr-TR" dirty="0" smtClean="0">
                <a:solidFill>
                  <a:srgbClr val="FF0000"/>
                </a:solidFill>
              </a:rPr>
              <a:t>) {                                         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jLabel2.setText("</a:t>
            </a:r>
            <a:r>
              <a:rPr lang="tr-TR" dirty="0" err="1" smtClean="0">
                <a:solidFill>
                  <a:srgbClr val="FF0000"/>
                </a:solidFill>
              </a:rPr>
              <a:t>yuhhh</a:t>
            </a:r>
            <a:r>
              <a:rPr lang="tr-TR" dirty="0" smtClean="0">
                <a:solidFill>
                  <a:srgbClr val="FF0000"/>
                </a:solidFill>
              </a:rPr>
              <a:t>");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}                                        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</a:t>
            </a:r>
            <a:r>
              <a:rPr lang="tr-TR" dirty="0" err="1" smtClean="0">
                <a:solidFill>
                  <a:srgbClr val="FF0000"/>
                </a:solidFill>
              </a:rPr>
              <a:t>private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void</a:t>
            </a:r>
            <a:r>
              <a:rPr lang="tr-TR" dirty="0" smtClean="0">
                <a:solidFill>
                  <a:srgbClr val="FF0000"/>
                </a:solidFill>
              </a:rPr>
              <a:t> jButton1MouseEntered(</a:t>
            </a:r>
            <a:r>
              <a:rPr lang="tr-TR" dirty="0" err="1" smtClean="0">
                <a:solidFill>
                  <a:srgbClr val="FF0000"/>
                </a:solidFill>
              </a:rPr>
              <a:t>java.awt.event.MouseEvent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evt</a:t>
            </a:r>
            <a:r>
              <a:rPr lang="tr-TR" dirty="0" smtClean="0">
                <a:solidFill>
                  <a:srgbClr val="FF0000"/>
                </a:solidFill>
              </a:rPr>
              <a:t>) {                                      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    // TODO </a:t>
            </a:r>
            <a:r>
              <a:rPr lang="tr-TR" dirty="0" err="1" smtClean="0">
                <a:solidFill>
                  <a:srgbClr val="FF0000"/>
                </a:solidFill>
              </a:rPr>
              <a:t>add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your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handling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code</a:t>
            </a:r>
            <a:r>
              <a:rPr lang="tr-TR" dirty="0" smtClean="0">
                <a:solidFill>
                  <a:srgbClr val="FF0000"/>
                </a:solidFill>
              </a:rPr>
              <a:t> here: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    jButton1.setText("Evet");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    jButton2.setText("Hayır");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}                                     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</a:t>
            </a:r>
            <a:r>
              <a:rPr lang="tr-TR" dirty="0" err="1" smtClean="0">
                <a:solidFill>
                  <a:srgbClr val="FF0000"/>
                </a:solidFill>
              </a:rPr>
              <a:t>private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void</a:t>
            </a:r>
            <a:r>
              <a:rPr lang="tr-TR" dirty="0" smtClean="0">
                <a:solidFill>
                  <a:srgbClr val="FF0000"/>
                </a:solidFill>
              </a:rPr>
              <a:t> jButton2MouseEntered(</a:t>
            </a:r>
            <a:r>
              <a:rPr lang="tr-TR" dirty="0" err="1" smtClean="0">
                <a:solidFill>
                  <a:srgbClr val="FF0000"/>
                </a:solidFill>
              </a:rPr>
              <a:t>java.awt.event.MouseEvent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evt</a:t>
            </a:r>
            <a:r>
              <a:rPr lang="tr-TR" dirty="0" smtClean="0">
                <a:solidFill>
                  <a:srgbClr val="FF0000"/>
                </a:solidFill>
              </a:rPr>
              <a:t>) {                                      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    // TODO </a:t>
            </a:r>
            <a:r>
              <a:rPr lang="tr-TR" dirty="0" err="1" smtClean="0">
                <a:solidFill>
                  <a:srgbClr val="FF0000"/>
                </a:solidFill>
              </a:rPr>
              <a:t>add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your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handling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code</a:t>
            </a:r>
            <a:r>
              <a:rPr lang="tr-TR" dirty="0" smtClean="0">
                <a:solidFill>
                  <a:srgbClr val="FF0000"/>
                </a:solidFill>
              </a:rPr>
              <a:t> here: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    jButton2.setText("Evet");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    jButton1.setText("Hayır");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}</a:t>
            </a:r>
            <a:endParaRPr lang="tr-T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7132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bg1">
                <a:lumMod val="7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434" y="0"/>
            <a:ext cx="3358566" cy="2522192"/>
          </a:xfrm>
          <a:prstGeom prst="rect">
            <a:avLst/>
          </a:prstGeom>
        </p:spPr>
      </p:pic>
      <p:sp>
        <p:nvSpPr>
          <p:cNvPr id="4" name="Dikdörtgen 3"/>
          <p:cNvSpPr/>
          <p:nvPr/>
        </p:nvSpPr>
        <p:spPr>
          <a:xfrm>
            <a:off x="100483" y="2273172"/>
            <a:ext cx="769703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 err="1" smtClean="0"/>
              <a:t>private</a:t>
            </a:r>
            <a:r>
              <a:rPr lang="tr-TR" dirty="0" smtClean="0"/>
              <a:t> </a:t>
            </a:r>
            <a:r>
              <a:rPr lang="tr-TR" dirty="0" err="1" smtClean="0"/>
              <a:t>void</a:t>
            </a:r>
            <a:r>
              <a:rPr lang="tr-TR" dirty="0" smtClean="0"/>
              <a:t> jButton1ActionPerformed(</a:t>
            </a:r>
            <a:r>
              <a:rPr lang="tr-TR" dirty="0" err="1" smtClean="0"/>
              <a:t>java.awt.event.ActionEvent</a:t>
            </a:r>
            <a:r>
              <a:rPr lang="tr-TR" dirty="0" smtClean="0"/>
              <a:t> </a:t>
            </a:r>
            <a:r>
              <a:rPr lang="tr-TR" dirty="0" err="1" smtClean="0"/>
              <a:t>evt</a:t>
            </a:r>
            <a:r>
              <a:rPr lang="tr-TR" dirty="0" smtClean="0"/>
              <a:t>) {                                         </a:t>
            </a:r>
          </a:p>
          <a:p>
            <a:r>
              <a:rPr lang="tr-TR" dirty="0" smtClean="0"/>
              <a:t>        // TODO </a:t>
            </a:r>
            <a:r>
              <a:rPr lang="tr-TR" dirty="0" err="1" smtClean="0"/>
              <a:t>add</a:t>
            </a:r>
            <a:r>
              <a:rPr lang="tr-TR" dirty="0" smtClean="0"/>
              <a:t> </a:t>
            </a:r>
            <a:r>
              <a:rPr lang="tr-TR" dirty="0" err="1" smtClean="0"/>
              <a:t>your</a:t>
            </a:r>
            <a:r>
              <a:rPr lang="tr-TR" dirty="0" smtClean="0"/>
              <a:t> </a:t>
            </a:r>
            <a:r>
              <a:rPr lang="tr-TR" dirty="0" err="1" smtClean="0"/>
              <a:t>handling</a:t>
            </a:r>
            <a:r>
              <a:rPr lang="tr-TR" dirty="0" smtClean="0"/>
              <a:t> </a:t>
            </a:r>
            <a:r>
              <a:rPr lang="tr-TR" dirty="0" err="1" smtClean="0"/>
              <a:t>code</a:t>
            </a:r>
            <a:r>
              <a:rPr lang="tr-TR" dirty="0" smtClean="0"/>
              <a:t> here:</a:t>
            </a:r>
          </a:p>
          <a:p>
            <a:r>
              <a:rPr lang="tr-TR" dirty="0" smtClean="0"/>
              <a:t>        </a:t>
            </a:r>
            <a:r>
              <a:rPr lang="tr-TR" dirty="0" err="1" smtClean="0"/>
              <a:t>if</a:t>
            </a:r>
            <a:r>
              <a:rPr lang="tr-TR" dirty="0" smtClean="0"/>
              <a:t>(jRadioButton1.isSelected())</a:t>
            </a:r>
          </a:p>
          <a:p>
            <a:r>
              <a:rPr lang="tr-TR" dirty="0" smtClean="0"/>
              <a:t>            jLabel1.setText("1.seçenek seçili");</a:t>
            </a:r>
          </a:p>
          <a:p>
            <a:r>
              <a:rPr lang="tr-TR" dirty="0" smtClean="0"/>
              <a:t>        else</a:t>
            </a:r>
          </a:p>
          <a:p>
            <a:r>
              <a:rPr lang="tr-TR" dirty="0" smtClean="0"/>
              <a:t>            jLabel1.setText("");</a:t>
            </a:r>
          </a:p>
          <a:p>
            <a:r>
              <a:rPr lang="tr-TR" dirty="0" smtClean="0"/>
              <a:t>        </a:t>
            </a:r>
          </a:p>
          <a:p>
            <a:r>
              <a:rPr lang="tr-TR" dirty="0" smtClean="0"/>
              <a:t>    }                                        </a:t>
            </a:r>
          </a:p>
          <a:p>
            <a:endParaRPr lang="tr-TR" dirty="0" smtClean="0"/>
          </a:p>
          <a:p>
            <a:r>
              <a:rPr lang="tr-TR" dirty="0" smtClean="0"/>
              <a:t>    </a:t>
            </a:r>
            <a:r>
              <a:rPr lang="tr-TR" dirty="0" err="1" smtClean="0"/>
              <a:t>private</a:t>
            </a:r>
            <a:r>
              <a:rPr lang="tr-TR" dirty="0" smtClean="0"/>
              <a:t> </a:t>
            </a:r>
            <a:r>
              <a:rPr lang="tr-TR" dirty="0" err="1" smtClean="0"/>
              <a:t>void</a:t>
            </a:r>
            <a:r>
              <a:rPr lang="tr-TR" dirty="0" smtClean="0"/>
              <a:t> jButton2ActionPerformed(</a:t>
            </a:r>
            <a:r>
              <a:rPr lang="tr-TR" dirty="0" err="1" smtClean="0"/>
              <a:t>java.awt.event.ActionEvent</a:t>
            </a:r>
            <a:r>
              <a:rPr lang="tr-TR" dirty="0" smtClean="0"/>
              <a:t> </a:t>
            </a:r>
            <a:r>
              <a:rPr lang="tr-TR" dirty="0" err="1" smtClean="0"/>
              <a:t>evt</a:t>
            </a:r>
            <a:r>
              <a:rPr lang="tr-TR" dirty="0" smtClean="0"/>
              <a:t>) {                                         </a:t>
            </a:r>
          </a:p>
          <a:p>
            <a:r>
              <a:rPr lang="tr-TR" dirty="0" smtClean="0"/>
              <a:t>        // TODO </a:t>
            </a:r>
            <a:r>
              <a:rPr lang="tr-TR" dirty="0" err="1" smtClean="0"/>
              <a:t>add</a:t>
            </a:r>
            <a:r>
              <a:rPr lang="tr-TR" dirty="0" smtClean="0"/>
              <a:t> </a:t>
            </a:r>
            <a:r>
              <a:rPr lang="tr-TR" dirty="0" err="1" smtClean="0"/>
              <a:t>your</a:t>
            </a:r>
            <a:r>
              <a:rPr lang="tr-TR" dirty="0" smtClean="0"/>
              <a:t> </a:t>
            </a:r>
            <a:r>
              <a:rPr lang="tr-TR" dirty="0" err="1" smtClean="0"/>
              <a:t>handling</a:t>
            </a:r>
            <a:r>
              <a:rPr lang="tr-TR" dirty="0" smtClean="0"/>
              <a:t> </a:t>
            </a:r>
            <a:r>
              <a:rPr lang="tr-TR" dirty="0" err="1" smtClean="0"/>
              <a:t>code</a:t>
            </a:r>
            <a:r>
              <a:rPr lang="tr-TR" dirty="0" smtClean="0"/>
              <a:t> here:</a:t>
            </a:r>
          </a:p>
          <a:p>
            <a:r>
              <a:rPr lang="tr-TR" dirty="0" smtClean="0"/>
              <a:t>        </a:t>
            </a:r>
            <a:r>
              <a:rPr lang="tr-TR" dirty="0" err="1" smtClean="0"/>
              <a:t>if</a:t>
            </a:r>
            <a:r>
              <a:rPr lang="tr-TR" dirty="0" smtClean="0"/>
              <a:t>(jRadioButton1.isSelected()==</a:t>
            </a:r>
            <a:r>
              <a:rPr lang="tr-TR" dirty="0" err="1" smtClean="0"/>
              <a:t>true</a:t>
            </a:r>
            <a:r>
              <a:rPr lang="tr-TR" dirty="0" smtClean="0"/>
              <a:t>)//</a:t>
            </a:r>
            <a:r>
              <a:rPr lang="tr-TR" dirty="0" err="1" smtClean="0"/>
              <a:t>if</a:t>
            </a:r>
            <a:r>
              <a:rPr lang="tr-TR" dirty="0" smtClean="0"/>
              <a:t>(</a:t>
            </a:r>
            <a:r>
              <a:rPr lang="tr-TR" dirty="0" err="1" smtClean="0"/>
              <a:t>true</a:t>
            </a:r>
            <a:r>
              <a:rPr lang="tr-TR" dirty="0" smtClean="0"/>
              <a:t>) veya ==</a:t>
            </a:r>
          </a:p>
          <a:p>
            <a:r>
              <a:rPr lang="tr-TR" dirty="0" smtClean="0"/>
              <a:t>            jLabel1.setText("1.Seçenek seçili");</a:t>
            </a:r>
          </a:p>
          <a:p>
            <a:r>
              <a:rPr lang="tr-TR" dirty="0" smtClean="0"/>
              <a:t>        </a:t>
            </a:r>
            <a:r>
              <a:rPr lang="tr-TR" dirty="0" err="1" smtClean="0"/>
              <a:t>if</a:t>
            </a:r>
            <a:r>
              <a:rPr lang="tr-TR" dirty="0" smtClean="0"/>
              <a:t>(jRadioButton2.isSelected()==</a:t>
            </a:r>
            <a:r>
              <a:rPr lang="tr-TR" dirty="0" err="1" smtClean="0"/>
              <a:t>true</a:t>
            </a:r>
            <a:r>
              <a:rPr lang="tr-TR" dirty="0" smtClean="0"/>
              <a:t>)//</a:t>
            </a:r>
            <a:r>
              <a:rPr lang="tr-TR" dirty="0" err="1" smtClean="0"/>
              <a:t>if</a:t>
            </a:r>
            <a:r>
              <a:rPr lang="tr-TR" dirty="0" smtClean="0"/>
              <a:t>(</a:t>
            </a:r>
            <a:r>
              <a:rPr lang="tr-TR" dirty="0" err="1" smtClean="0"/>
              <a:t>true</a:t>
            </a:r>
            <a:r>
              <a:rPr lang="tr-TR" dirty="0" smtClean="0"/>
              <a:t>) veya ==</a:t>
            </a:r>
          </a:p>
          <a:p>
            <a:r>
              <a:rPr lang="tr-TR" dirty="0" smtClean="0"/>
              <a:t>            jLabel1.setText("2.Seçenek seçili");</a:t>
            </a:r>
          </a:p>
          <a:p>
            <a:r>
              <a:rPr lang="tr-TR" dirty="0" smtClean="0"/>
              <a:t>    } </a:t>
            </a:r>
            <a:endParaRPr lang="tr-TR" dirty="0"/>
          </a:p>
        </p:txBody>
      </p:sp>
      <p:sp>
        <p:nvSpPr>
          <p:cNvPr id="5" name="Dikdörtgen 4"/>
          <p:cNvSpPr/>
          <p:nvPr/>
        </p:nvSpPr>
        <p:spPr>
          <a:xfrm>
            <a:off x="100483" y="518846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dirty="0" err="1" smtClean="0"/>
              <a:t>public</a:t>
            </a:r>
            <a:r>
              <a:rPr lang="tr-TR" dirty="0" smtClean="0"/>
              <a:t> NewJFrame3() {</a:t>
            </a:r>
          </a:p>
          <a:p>
            <a:r>
              <a:rPr lang="tr-TR" dirty="0" smtClean="0"/>
              <a:t>        </a:t>
            </a:r>
            <a:r>
              <a:rPr lang="tr-TR" dirty="0" err="1" smtClean="0"/>
              <a:t>initComponents</a:t>
            </a:r>
            <a:r>
              <a:rPr lang="tr-TR" dirty="0" smtClean="0"/>
              <a:t>();</a:t>
            </a:r>
          </a:p>
          <a:p>
            <a:r>
              <a:rPr lang="tr-TR" dirty="0" smtClean="0"/>
              <a:t>        jRadioButton1.setSelected(</a:t>
            </a:r>
            <a:r>
              <a:rPr lang="tr-TR" dirty="0" err="1" smtClean="0"/>
              <a:t>true</a:t>
            </a:r>
            <a:r>
              <a:rPr lang="tr-TR" dirty="0" smtClean="0"/>
              <a:t>);</a:t>
            </a:r>
          </a:p>
          <a:p>
            <a:r>
              <a:rPr lang="tr-TR" dirty="0" smtClean="0"/>
              <a:t>        //</a:t>
            </a:r>
            <a:r>
              <a:rPr lang="tr-TR" dirty="0" err="1" smtClean="0"/>
              <a:t>true</a:t>
            </a:r>
            <a:r>
              <a:rPr lang="tr-TR" dirty="0" smtClean="0"/>
              <a:t> seçer</a:t>
            </a:r>
          </a:p>
          <a:p>
            <a:r>
              <a:rPr lang="tr-TR" dirty="0" smtClean="0"/>
              <a:t>        //</a:t>
            </a:r>
            <a:r>
              <a:rPr lang="tr-TR" dirty="0" err="1" smtClean="0"/>
              <a:t>false</a:t>
            </a:r>
            <a:r>
              <a:rPr lang="tr-TR" dirty="0" smtClean="0"/>
              <a:t> seçimi iptal eder</a:t>
            </a:r>
          </a:p>
          <a:p>
            <a:r>
              <a:rPr lang="tr-TR" dirty="0" smtClean="0"/>
              <a:t>    }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05886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9061" y="0"/>
            <a:ext cx="2802939" cy="2125608"/>
          </a:xfrm>
          <a:prstGeom prst="rect">
            <a:avLst/>
          </a:prstGeom>
        </p:spPr>
      </p:pic>
      <p:sp>
        <p:nvSpPr>
          <p:cNvPr id="4" name="Dikdörtgen 3"/>
          <p:cNvSpPr/>
          <p:nvPr/>
        </p:nvSpPr>
        <p:spPr>
          <a:xfrm>
            <a:off x="110532" y="452910"/>
            <a:ext cx="8993275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 smtClean="0"/>
              <a:t> </a:t>
            </a:r>
            <a:r>
              <a:rPr lang="tr-TR" dirty="0" err="1" smtClean="0"/>
              <a:t>private</a:t>
            </a:r>
            <a:r>
              <a:rPr lang="tr-TR" dirty="0" smtClean="0"/>
              <a:t> </a:t>
            </a:r>
            <a:r>
              <a:rPr lang="tr-TR" dirty="0" err="1" smtClean="0"/>
              <a:t>void</a:t>
            </a:r>
            <a:r>
              <a:rPr lang="tr-TR" dirty="0" smtClean="0"/>
              <a:t> </a:t>
            </a:r>
            <a:r>
              <a:rPr lang="tr-TR" dirty="0" err="1" smtClean="0"/>
              <a:t>btnTamamActionPerformed</a:t>
            </a:r>
            <a:r>
              <a:rPr lang="tr-TR" dirty="0" smtClean="0"/>
              <a:t>(</a:t>
            </a:r>
            <a:r>
              <a:rPr lang="tr-TR" dirty="0" err="1" smtClean="0"/>
              <a:t>java.awt.event.ActionEvent</a:t>
            </a:r>
            <a:r>
              <a:rPr lang="tr-TR" dirty="0" smtClean="0"/>
              <a:t> </a:t>
            </a:r>
            <a:r>
              <a:rPr lang="tr-TR" dirty="0" err="1" smtClean="0"/>
              <a:t>evt</a:t>
            </a:r>
            <a:r>
              <a:rPr lang="tr-TR" dirty="0" smtClean="0"/>
              <a:t>) {                                         </a:t>
            </a:r>
          </a:p>
          <a:p>
            <a:r>
              <a:rPr lang="tr-TR" dirty="0" smtClean="0"/>
              <a:t>         </a:t>
            </a:r>
            <a:r>
              <a:rPr lang="tr-TR" dirty="0" err="1" smtClean="0"/>
              <a:t>JOptionPane.showMessageDialog</a:t>
            </a:r>
            <a:r>
              <a:rPr lang="tr-TR" dirty="0" smtClean="0"/>
              <a:t>(</a:t>
            </a:r>
            <a:r>
              <a:rPr lang="tr-TR" dirty="0" err="1" smtClean="0"/>
              <a:t>this</a:t>
            </a:r>
            <a:r>
              <a:rPr lang="tr-TR" dirty="0" smtClean="0"/>
              <a:t>, "Tamam");  </a:t>
            </a:r>
          </a:p>
          <a:p>
            <a:r>
              <a:rPr lang="tr-TR" dirty="0"/>
              <a:t> </a:t>
            </a:r>
            <a:r>
              <a:rPr lang="tr-TR" dirty="0" smtClean="0"/>
              <a:t>        // </a:t>
            </a:r>
            <a:r>
              <a:rPr lang="tr-TR" dirty="0" err="1" smtClean="0"/>
              <a:t>Pane</a:t>
            </a:r>
            <a:r>
              <a:rPr lang="tr-TR" dirty="0" smtClean="0"/>
              <a:t> mesaj yazmamızı sağlar  </a:t>
            </a:r>
          </a:p>
          <a:p>
            <a:r>
              <a:rPr lang="tr-TR" dirty="0" smtClean="0"/>
              <a:t>    }                                        </a:t>
            </a:r>
          </a:p>
          <a:p>
            <a:endParaRPr lang="tr-TR" dirty="0" smtClean="0"/>
          </a:p>
          <a:p>
            <a:r>
              <a:rPr lang="tr-TR" dirty="0" smtClean="0"/>
              <a:t>    </a:t>
            </a:r>
            <a:r>
              <a:rPr lang="tr-TR" dirty="0" err="1" smtClean="0"/>
              <a:t>private</a:t>
            </a:r>
            <a:r>
              <a:rPr lang="tr-TR" dirty="0" smtClean="0"/>
              <a:t> </a:t>
            </a:r>
            <a:r>
              <a:rPr lang="tr-TR" dirty="0" err="1" smtClean="0"/>
              <a:t>void</a:t>
            </a:r>
            <a:r>
              <a:rPr lang="tr-TR" dirty="0" smtClean="0"/>
              <a:t> jButton1ActionPerformed(</a:t>
            </a:r>
            <a:r>
              <a:rPr lang="tr-TR" dirty="0" err="1" smtClean="0"/>
              <a:t>java.awt.event.ActionEvent</a:t>
            </a:r>
            <a:r>
              <a:rPr lang="tr-TR" dirty="0" smtClean="0"/>
              <a:t> </a:t>
            </a:r>
            <a:r>
              <a:rPr lang="tr-TR" dirty="0" err="1" smtClean="0"/>
              <a:t>evt</a:t>
            </a:r>
            <a:r>
              <a:rPr lang="tr-TR" dirty="0" smtClean="0"/>
              <a:t>) {                                         </a:t>
            </a:r>
          </a:p>
          <a:p>
            <a:r>
              <a:rPr lang="tr-TR" dirty="0" smtClean="0"/>
              <a:t> </a:t>
            </a:r>
            <a:r>
              <a:rPr lang="tr-TR" dirty="0" err="1" smtClean="0"/>
              <a:t>btnTamam.setEnabled</a:t>
            </a:r>
            <a:r>
              <a:rPr lang="tr-TR" dirty="0" smtClean="0"/>
              <a:t>(</a:t>
            </a:r>
            <a:r>
              <a:rPr lang="tr-TR" dirty="0" err="1" smtClean="0"/>
              <a:t>false</a:t>
            </a:r>
            <a:r>
              <a:rPr lang="tr-TR" dirty="0" smtClean="0"/>
              <a:t>); // buton tuşu </a:t>
            </a:r>
            <a:r>
              <a:rPr lang="tr-TR" dirty="0" err="1" smtClean="0"/>
              <a:t>disable</a:t>
            </a:r>
            <a:r>
              <a:rPr lang="tr-TR" dirty="0" smtClean="0"/>
              <a:t> edilir </a:t>
            </a:r>
          </a:p>
          <a:p>
            <a:r>
              <a:rPr lang="tr-TR" dirty="0" smtClean="0"/>
              <a:t>    }                                        </a:t>
            </a:r>
          </a:p>
          <a:p>
            <a:endParaRPr lang="tr-TR" dirty="0" smtClean="0"/>
          </a:p>
          <a:p>
            <a:r>
              <a:rPr lang="tr-TR" dirty="0" smtClean="0"/>
              <a:t>    </a:t>
            </a:r>
            <a:r>
              <a:rPr lang="tr-TR" dirty="0" err="1" smtClean="0"/>
              <a:t>private</a:t>
            </a:r>
            <a:r>
              <a:rPr lang="tr-TR" dirty="0" smtClean="0"/>
              <a:t> </a:t>
            </a:r>
            <a:r>
              <a:rPr lang="tr-TR" dirty="0" err="1" smtClean="0"/>
              <a:t>void</a:t>
            </a:r>
            <a:r>
              <a:rPr lang="tr-TR" dirty="0" smtClean="0"/>
              <a:t> jButton2ActionPerformed(</a:t>
            </a:r>
            <a:r>
              <a:rPr lang="tr-TR" dirty="0" err="1" smtClean="0"/>
              <a:t>java.awt.event.ActionEvent</a:t>
            </a:r>
            <a:r>
              <a:rPr lang="tr-TR" dirty="0" smtClean="0"/>
              <a:t> </a:t>
            </a:r>
            <a:r>
              <a:rPr lang="tr-TR" dirty="0" err="1" smtClean="0"/>
              <a:t>evt</a:t>
            </a:r>
            <a:r>
              <a:rPr lang="tr-TR" dirty="0" smtClean="0"/>
              <a:t>) {                                         </a:t>
            </a:r>
          </a:p>
          <a:p>
            <a:r>
              <a:rPr lang="tr-TR" dirty="0" smtClean="0"/>
              <a:t>         </a:t>
            </a:r>
            <a:r>
              <a:rPr lang="tr-TR" dirty="0" err="1" smtClean="0"/>
              <a:t>btnTamam.setEnabled</a:t>
            </a:r>
            <a:r>
              <a:rPr lang="tr-TR" dirty="0" smtClean="0"/>
              <a:t>(</a:t>
            </a:r>
            <a:r>
              <a:rPr lang="tr-TR" dirty="0" err="1" smtClean="0"/>
              <a:t>true</a:t>
            </a:r>
            <a:r>
              <a:rPr lang="tr-TR" dirty="0" smtClean="0"/>
              <a:t>); // buton tuşu </a:t>
            </a:r>
            <a:r>
              <a:rPr lang="tr-TR" dirty="0" err="1" smtClean="0"/>
              <a:t>enabled</a:t>
            </a:r>
            <a:r>
              <a:rPr lang="tr-TR" dirty="0" smtClean="0"/>
              <a:t> edilir</a:t>
            </a:r>
          </a:p>
          <a:p>
            <a:r>
              <a:rPr lang="tr-TR" dirty="0" smtClean="0"/>
              <a:t>    }                                        </a:t>
            </a:r>
          </a:p>
          <a:p>
            <a:endParaRPr lang="tr-TR" dirty="0" smtClean="0"/>
          </a:p>
          <a:p>
            <a:r>
              <a:rPr lang="tr-TR" dirty="0" smtClean="0"/>
              <a:t>    </a:t>
            </a:r>
            <a:r>
              <a:rPr lang="tr-TR" dirty="0" err="1" smtClean="0"/>
              <a:t>private</a:t>
            </a:r>
            <a:r>
              <a:rPr lang="tr-TR" dirty="0" smtClean="0"/>
              <a:t> </a:t>
            </a:r>
            <a:r>
              <a:rPr lang="tr-TR" dirty="0" err="1" smtClean="0"/>
              <a:t>void</a:t>
            </a:r>
            <a:r>
              <a:rPr lang="tr-TR" dirty="0" smtClean="0"/>
              <a:t> jButton3ActionPerformed(</a:t>
            </a:r>
            <a:r>
              <a:rPr lang="tr-TR" dirty="0" err="1" smtClean="0"/>
              <a:t>java.awt.event.ActionEvent</a:t>
            </a:r>
            <a:r>
              <a:rPr lang="tr-TR" dirty="0" smtClean="0"/>
              <a:t> </a:t>
            </a:r>
            <a:r>
              <a:rPr lang="tr-TR" dirty="0" err="1" smtClean="0"/>
              <a:t>evt</a:t>
            </a:r>
            <a:r>
              <a:rPr lang="tr-TR" dirty="0" smtClean="0"/>
              <a:t>) {                                         </a:t>
            </a:r>
          </a:p>
          <a:p>
            <a:r>
              <a:rPr lang="tr-TR" dirty="0" smtClean="0"/>
              <a:t>         </a:t>
            </a:r>
            <a:r>
              <a:rPr lang="tr-TR" dirty="0" err="1" smtClean="0"/>
              <a:t>btnTamam.setVisible</a:t>
            </a:r>
            <a:r>
              <a:rPr lang="tr-TR" dirty="0" smtClean="0"/>
              <a:t>(</a:t>
            </a:r>
            <a:r>
              <a:rPr lang="tr-TR" dirty="0" err="1" smtClean="0"/>
              <a:t>false</a:t>
            </a:r>
            <a:r>
              <a:rPr lang="tr-TR" dirty="0" smtClean="0"/>
              <a:t>);// </a:t>
            </a:r>
            <a:r>
              <a:rPr lang="tr-TR" dirty="0" err="1" smtClean="0"/>
              <a:t>ekanda</a:t>
            </a:r>
            <a:r>
              <a:rPr lang="tr-TR" dirty="0" smtClean="0"/>
              <a:t> göstermeyi devre dışı bırakır</a:t>
            </a:r>
          </a:p>
          <a:p>
            <a:r>
              <a:rPr lang="tr-TR" dirty="0" smtClean="0"/>
              <a:t>    }                                        </a:t>
            </a:r>
          </a:p>
          <a:p>
            <a:endParaRPr lang="tr-TR" dirty="0" smtClean="0"/>
          </a:p>
          <a:p>
            <a:r>
              <a:rPr lang="tr-TR" dirty="0" smtClean="0"/>
              <a:t>    </a:t>
            </a:r>
            <a:r>
              <a:rPr lang="tr-TR" dirty="0" err="1" smtClean="0"/>
              <a:t>private</a:t>
            </a:r>
            <a:r>
              <a:rPr lang="tr-TR" dirty="0" smtClean="0"/>
              <a:t> </a:t>
            </a:r>
            <a:r>
              <a:rPr lang="tr-TR" dirty="0" err="1" smtClean="0"/>
              <a:t>void</a:t>
            </a:r>
            <a:r>
              <a:rPr lang="tr-TR" dirty="0" smtClean="0"/>
              <a:t> jButton4ActionPerformed(</a:t>
            </a:r>
            <a:r>
              <a:rPr lang="tr-TR" dirty="0" err="1" smtClean="0"/>
              <a:t>java.awt.event.ActionEvent</a:t>
            </a:r>
            <a:r>
              <a:rPr lang="tr-TR" dirty="0" smtClean="0"/>
              <a:t> </a:t>
            </a:r>
            <a:r>
              <a:rPr lang="tr-TR" dirty="0" err="1" smtClean="0"/>
              <a:t>evt</a:t>
            </a:r>
            <a:r>
              <a:rPr lang="tr-TR" dirty="0" smtClean="0"/>
              <a:t>) {                                         </a:t>
            </a:r>
          </a:p>
          <a:p>
            <a:r>
              <a:rPr lang="tr-TR" dirty="0" smtClean="0"/>
              <a:t>         </a:t>
            </a:r>
            <a:r>
              <a:rPr lang="tr-TR" dirty="0" err="1" smtClean="0"/>
              <a:t>btnTamam.setVisible</a:t>
            </a:r>
            <a:r>
              <a:rPr lang="tr-TR" dirty="0" smtClean="0"/>
              <a:t>(</a:t>
            </a:r>
            <a:r>
              <a:rPr lang="tr-TR" dirty="0" err="1" smtClean="0"/>
              <a:t>true</a:t>
            </a:r>
            <a:r>
              <a:rPr lang="tr-TR" dirty="0" smtClean="0"/>
              <a:t>);    </a:t>
            </a:r>
          </a:p>
          <a:p>
            <a:r>
              <a:rPr lang="tr-TR" dirty="0" smtClean="0"/>
              <a:t>    }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05765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DDE2C0"/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kdörtgen 2"/>
          <p:cNvSpPr/>
          <p:nvPr/>
        </p:nvSpPr>
        <p:spPr>
          <a:xfrm>
            <a:off x="0" y="844062"/>
            <a:ext cx="8259746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private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void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btnHesaplaActionPerformed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java.awt.event.ActionEvent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evt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) {                                           </a:t>
            </a:r>
          </a:p>
          <a:p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        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double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vizeNotu,finalNotu,vizeOran,finalOran,sonuc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;</a:t>
            </a:r>
          </a:p>
          <a:p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        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vizeNotu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 = 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Double.parseDouble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txtVize.getText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());       </a:t>
            </a:r>
          </a:p>
          <a:p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        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vizeNotu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 = 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Double.parseDouble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txtVize.getText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());</a:t>
            </a:r>
          </a:p>
          <a:p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        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finalNotu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 = 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Double.parseDouble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txtFinal.getText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());</a:t>
            </a:r>
          </a:p>
          <a:p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        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vizeOran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 = 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Double.parseDouble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txtVizeOran.getText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());</a:t>
            </a:r>
          </a:p>
          <a:p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        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finalOran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 = 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Double.parseDouble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txtFinalOran.getText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());</a:t>
            </a:r>
          </a:p>
          <a:p>
            <a:r>
              <a:rPr lang="tr-TR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       // 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Parse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 dönüştürmeyi sağlar</a:t>
            </a:r>
            <a:endParaRPr lang="tr-TR" dirty="0">
              <a:solidFill>
                <a:schemeClr val="bg2">
                  <a:lumMod val="25000"/>
                </a:schemeClr>
              </a:solidFill>
            </a:endParaRPr>
          </a:p>
          <a:p>
            <a:endParaRPr lang="tr-TR" dirty="0" smtClean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        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if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sabitOran.isSelected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())  {</a:t>
            </a:r>
          </a:p>
          <a:p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            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sonuc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 = 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vizeNotu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*0.4+finalNotu*0.6;</a:t>
            </a:r>
          </a:p>
          <a:p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            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lblSonuc.setText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String.valueOf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sonuc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));</a:t>
            </a:r>
          </a:p>
          <a:p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        }</a:t>
            </a:r>
          </a:p>
          <a:p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        else 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if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degiskenOran.isSelected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() &amp;&amp; ((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vizeOran+finalOran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)==100) &amp;&amp; 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vizeOran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&lt;=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finalOran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){</a:t>
            </a:r>
          </a:p>
          <a:p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            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sonuc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 = 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vizeNotu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/100*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vizeOran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 + 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finalNotu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/100*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finalOran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;</a:t>
            </a:r>
          </a:p>
          <a:p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            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lblSonuc.setText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String.valueOf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sonuc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));</a:t>
            </a:r>
          </a:p>
          <a:p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        }</a:t>
            </a:r>
          </a:p>
          <a:p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        else</a:t>
            </a:r>
          </a:p>
          <a:p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            </a:t>
            </a:r>
            <a:r>
              <a:rPr lang="tr-TR" dirty="0" err="1" smtClean="0">
                <a:solidFill>
                  <a:schemeClr val="bg2">
                    <a:lumMod val="25000"/>
                  </a:schemeClr>
                </a:solidFill>
              </a:rPr>
              <a:t>lblSonuc.setText</a:t>
            </a:r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("Oranlarda Hata Var");</a:t>
            </a:r>
          </a:p>
          <a:p>
            <a:r>
              <a:rPr lang="tr-TR" dirty="0" smtClean="0">
                <a:solidFill>
                  <a:schemeClr val="bg2">
                    <a:lumMod val="25000"/>
                  </a:schemeClr>
                </a:solidFill>
              </a:rPr>
              <a:t>    } </a:t>
            </a:r>
            <a:endParaRPr lang="tr-TR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9746" y="0"/>
            <a:ext cx="3932254" cy="358726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</p:spTree>
    <p:extLst>
      <p:ext uri="{BB962C8B-B14F-4D97-AF65-F5344CB8AC3E}">
        <p14:creationId xmlns:p14="http://schemas.microsoft.com/office/powerpoint/2010/main" val="2896154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kdörtgen 2"/>
          <p:cNvSpPr/>
          <p:nvPr/>
        </p:nvSpPr>
        <p:spPr>
          <a:xfrm>
            <a:off x="102577" y="270192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private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void</a:t>
            </a:r>
            <a:r>
              <a:rPr lang="tr-TR" dirty="0" smtClean="0">
                <a:solidFill>
                  <a:srgbClr val="FF0000"/>
                </a:solidFill>
              </a:rPr>
              <a:t> jButton1ActionPerformed(</a:t>
            </a:r>
            <a:r>
              <a:rPr lang="tr-TR" dirty="0" err="1" smtClean="0">
                <a:solidFill>
                  <a:srgbClr val="FF0000"/>
                </a:solidFill>
              </a:rPr>
              <a:t>java.awt.event.ActionEvent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evt</a:t>
            </a:r>
            <a:r>
              <a:rPr lang="tr-TR" dirty="0" smtClean="0">
                <a:solidFill>
                  <a:srgbClr val="FF0000"/>
                </a:solidFill>
              </a:rPr>
              <a:t>) {                                         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   </a:t>
            </a:r>
            <a:r>
              <a:rPr lang="tr-TR" dirty="0" err="1" smtClean="0">
                <a:solidFill>
                  <a:srgbClr val="FF0000"/>
                </a:solidFill>
              </a:rPr>
              <a:t>if</a:t>
            </a:r>
            <a:r>
              <a:rPr lang="tr-TR" dirty="0" smtClean="0">
                <a:solidFill>
                  <a:srgbClr val="FF0000"/>
                </a:solidFill>
              </a:rPr>
              <a:t>(jCheckBox1.isSelected()) // seçili mi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  // </a:t>
            </a:r>
            <a:r>
              <a:rPr lang="tr-TR" dirty="0" err="1" smtClean="0">
                <a:solidFill>
                  <a:srgbClr val="FF0000"/>
                </a:solidFill>
              </a:rPr>
              <a:t>boolean</a:t>
            </a:r>
            <a:r>
              <a:rPr lang="tr-TR" dirty="0" smtClean="0">
                <a:solidFill>
                  <a:srgbClr val="FF0000"/>
                </a:solidFill>
              </a:rPr>
              <a:t> ile çalışır 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        jLabel1.setText("Seçildi");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    else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        jLabel1.setText("Seçilmedi");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}   </a:t>
            </a:r>
          </a:p>
          <a:p>
            <a:endParaRPr lang="tr-TR" dirty="0">
              <a:solidFill>
                <a:srgbClr val="FF0000"/>
              </a:solidFill>
            </a:endParaRPr>
          </a:p>
          <a:p>
            <a:r>
              <a:rPr lang="tr-TR" dirty="0" smtClean="0">
                <a:solidFill>
                  <a:srgbClr val="FF0000"/>
                </a:solidFill>
              </a:rPr>
              <a:t>// </a:t>
            </a:r>
            <a:r>
              <a:rPr lang="tr-TR" dirty="0" err="1" smtClean="0">
                <a:solidFill>
                  <a:srgbClr val="FF0000"/>
                </a:solidFill>
              </a:rPr>
              <a:t>CheckBox</a:t>
            </a:r>
            <a:r>
              <a:rPr lang="tr-TR" dirty="0" smtClean="0">
                <a:solidFill>
                  <a:srgbClr val="FF0000"/>
                </a:solidFill>
              </a:rPr>
              <a:t> seçili kutuyu işaretler  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//                                    </a:t>
            </a:r>
            <a:endParaRPr lang="tr-TR" dirty="0">
              <a:solidFill>
                <a:srgbClr val="FF0000"/>
              </a:solidFill>
            </a:endParaRP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9498" y="-24812"/>
            <a:ext cx="3572502" cy="260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291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D3D0CF"/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kdörtgen 2"/>
          <p:cNvSpPr/>
          <p:nvPr/>
        </p:nvSpPr>
        <p:spPr>
          <a:xfrm>
            <a:off x="123929" y="0"/>
            <a:ext cx="722141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 err="1" smtClean="0"/>
              <a:t>private</a:t>
            </a:r>
            <a:r>
              <a:rPr lang="tr-TR" dirty="0" smtClean="0"/>
              <a:t> </a:t>
            </a:r>
            <a:r>
              <a:rPr lang="tr-TR" dirty="0" err="1" smtClean="0"/>
              <a:t>void</a:t>
            </a:r>
            <a:r>
              <a:rPr lang="tr-TR" dirty="0" smtClean="0"/>
              <a:t> </a:t>
            </a:r>
            <a:r>
              <a:rPr lang="tr-TR" dirty="0" err="1" smtClean="0"/>
              <a:t>jB_ArtirActionPerformed</a:t>
            </a:r>
            <a:r>
              <a:rPr lang="tr-TR" dirty="0" smtClean="0"/>
              <a:t>(</a:t>
            </a:r>
            <a:r>
              <a:rPr lang="tr-TR" dirty="0" err="1" smtClean="0"/>
              <a:t>java.awt.event.ActionEvent</a:t>
            </a:r>
            <a:r>
              <a:rPr lang="tr-TR" dirty="0" smtClean="0"/>
              <a:t> </a:t>
            </a:r>
            <a:r>
              <a:rPr lang="tr-TR" dirty="0" err="1" smtClean="0"/>
              <a:t>evt</a:t>
            </a:r>
            <a:r>
              <a:rPr lang="tr-TR" dirty="0" smtClean="0"/>
              <a:t>) {                                         </a:t>
            </a:r>
          </a:p>
          <a:p>
            <a:r>
              <a:rPr lang="tr-TR" dirty="0" smtClean="0"/>
              <a:t>        </a:t>
            </a:r>
            <a:r>
              <a:rPr lang="tr-TR" dirty="0" err="1" smtClean="0"/>
              <a:t>sayac</a:t>
            </a:r>
            <a:r>
              <a:rPr lang="tr-TR" dirty="0" smtClean="0"/>
              <a:t>++;</a:t>
            </a:r>
          </a:p>
          <a:p>
            <a:r>
              <a:rPr lang="tr-TR" dirty="0" smtClean="0"/>
              <a:t>        jLabel1.setText(</a:t>
            </a:r>
            <a:r>
              <a:rPr lang="tr-TR" dirty="0" err="1" smtClean="0"/>
              <a:t>String.valueOf</a:t>
            </a:r>
            <a:r>
              <a:rPr lang="tr-TR" dirty="0" smtClean="0"/>
              <a:t>(</a:t>
            </a:r>
            <a:r>
              <a:rPr lang="tr-TR" dirty="0" err="1" smtClean="0"/>
              <a:t>sayac</a:t>
            </a:r>
            <a:r>
              <a:rPr lang="tr-TR" dirty="0" smtClean="0"/>
              <a:t>)); // </a:t>
            </a:r>
            <a:r>
              <a:rPr lang="tr-TR" dirty="0" err="1" smtClean="0"/>
              <a:t>stringe</a:t>
            </a:r>
            <a:r>
              <a:rPr lang="tr-TR" dirty="0" smtClean="0"/>
              <a:t> dönüştürür</a:t>
            </a:r>
          </a:p>
          <a:p>
            <a:r>
              <a:rPr lang="tr-TR" dirty="0" smtClean="0"/>
              <a:t>    }                                        </a:t>
            </a:r>
          </a:p>
          <a:p>
            <a:endParaRPr lang="tr-TR" dirty="0" smtClean="0"/>
          </a:p>
          <a:p>
            <a:r>
              <a:rPr lang="tr-TR" dirty="0" smtClean="0"/>
              <a:t>    </a:t>
            </a:r>
            <a:r>
              <a:rPr lang="tr-TR" dirty="0" err="1" smtClean="0"/>
              <a:t>private</a:t>
            </a:r>
            <a:r>
              <a:rPr lang="tr-TR" dirty="0" smtClean="0"/>
              <a:t> </a:t>
            </a:r>
            <a:r>
              <a:rPr lang="tr-TR" dirty="0" err="1" smtClean="0"/>
              <a:t>void</a:t>
            </a:r>
            <a:r>
              <a:rPr lang="tr-TR" dirty="0" smtClean="0"/>
              <a:t> jButton2ActionPerformed(</a:t>
            </a:r>
            <a:r>
              <a:rPr lang="tr-TR" dirty="0" err="1" smtClean="0"/>
              <a:t>java.awt.event.ActionEvent</a:t>
            </a:r>
            <a:r>
              <a:rPr lang="tr-TR" dirty="0" smtClean="0"/>
              <a:t> </a:t>
            </a:r>
            <a:r>
              <a:rPr lang="tr-TR" dirty="0" err="1" smtClean="0"/>
              <a:t>evt</a:t>
            </a:r>
            <a:r>
              <a:rPr lang="tr-TR" dirty="0" smtClean="0"/>
              <a:t>) {                                         </a:t>
            </a:r>
          </a:p>
          <a:p>
            <a:r>
              <a:rPr lang="tr-TR" dirty="0"/>
              <a:t> </a:t>
            </a:r>
            <a:r>
              <a:rPr lang="tr-TR" dirty="0" smtClean="0"/>
              <a:t>       </a:t>
            </a:r>
            <a:r>
              <a:rPr lang="tr-TR" dirty="0" err="1" smtClean="0"/>
              <a:t>int</a:t>
            </a:r>
            <a:r>
              <a:rPr lang="tr-TR" dirty="0" smtClean="0"/>
              <a:t> </a:t>
            </a:r>
            <a:r>
              <a:rPr lang="tr-TR" dirty="0" err="1" smtClean="0"/>
              <a:t>deger</a:t>
            </a:r>
            <a:r>
              <a:rPr lang="tr-TR" dirty="0" smtClean="0"/>
              <a:t>=</a:t>
            </a:r>
            <a:r>
              <a:rPr lang="tr-TR" dirty="0" err="1" smtClean="0"/>
              <a:t>Integer.parseInt</a:t>
            </a:r>
            <a:r>
              <a:rPr lang="tr-TR" dirty="0" smtClean="0"/>
              <a:t>(jLabel2.getText()); // sayıya dönüştür</a:t>
            </a:r>
          </a:p>
          <a:p>
            <a:r>
              <a:rPr lang="tr-TR" dirty="0" smtClean="0"/>
              <a:t>        </a:t>
            </a:r>
            <a:r>
              <a:rPr lang="tr-TR" dirty="0" err="1" smtClean="0"/>
              <a:t>deger</a:t>
            </a:r>
            <a:r>
              <a:rPr lang="tr-TR" dirty="0" smtClean="0"/>
              <a:t>++; // değeri artırır</a:t>
            </a:r>
          </a:p>
          <a:p>
            <a:r>
              <a:rPr lang="tr-TR" dirty="0" smtClean="0"/>
              <a:t>        jLabel2.setText(</a:t>
            </a:r>
            <a:r>
              <a:rPr lang="tr-TR" dirty="0" err="1" smtClean="0"/>
              <a:t>String.valueOf</a:t>
            </a:r>
            <a:r>
              <a:rPr lang="tr-TR" dirty="0" smtClean="0"/>
              <a:t>(</a:t>
            </a:r>
            <a:r>
              <a:rPr lang="tr-TR" dirty="0" err="1" smtClean="0"/>
              <a:t>deger</a:t>
            </a:r>
            <a:r>
              <a:rPr lang="tr-TR" dirty="0" smtClean="0"/>
              <a:t>)); // </a:t>
            </a:r>
            <a:r>
              <a:rPr lang="tr-TR" dirty="0" err="1" smtClean="0"/>
              <a:t>stringe</a:t>
            </a:r>
            <a:r>
              <a:rPr lang="tr-TR" dirty="0" smtClean="0"/>
              <a:t> dönüştürür</a:t>
            </a:r>
          </a:p>
          <a:p>
            <a:r>
              <a:rPr lang="tr-TR" dirty="0" smtClean="0"/>
              <a:t>        //jLabel2.setText(</a:t>
            </a:r>
            <a:r>
              <a:rPr lang="tr-TR" dirty="0" err="1" smtClean="0"/>
              <a:t>String.valueOf</a:t>
            </a:r>
            <a:r>
              <a:rPr lang="tr-TR" dirty="0" smtClean="0"/>
              <a:t>(</a:t>
            </a:r>
            <a:r>
              <a:rPr lang="tr-TR" dirty="0" err="1" smtClean="0"/>
              <a:t>Integer.parseInt</a:t>
            </a:r>
            <a:r>
              <a:rPr lang="tr-TR" dirty="0" smtClean="0"/>
              <a:t>(jLabel2.getText())+1));</a:t>
            </a:r>
          </a:p>
          <a:p>
            <a:endParaRPr lang="tr-TR" dirty="0" smtClean="0"/>
          </a:p>
          <a:p>
            <a:r>
              <a:rPr lang="tr-TR" dirty="0" smtClean="0"/>
              <a:t>    } 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1988" y="1"/>
            <a:ext cx="3960012" cy="2964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674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/>
          <p:cNvSpPr/>
          <p:nvPr/>
        </p:nvSpPr>
        <p:spPr>
          <a:xfrm>
            <a:off x="211016" y="462958"/>
            <a:ext cx="8892791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 smtClean="0">
                <a:solidFill>
                  <a:srgbClr val="660066"/>
                </a:solidFill>
              </a:rPr>
              <a:t> </a:t>
            </a:r>
            <a:r>
              <a:rPr lang="tr-TR" dirty="0" err="1" smtClean="0">
                <a:solidFill>
                  <a:srgbClr val="660066"/>
                </a:solidFill>
              </a:rPr>
              <a:t>private</a:t>
            </a:r>
            <a:r>
              <a:rPr lang="tr-TR" dirty="0" smtClean="0">
                <a:solidFill>
                  <a:srgbClr val="660066"/>
                </a:solidFill>
              </a:rPr>
              <a:t> </a:t>
            </a:r>
            <a:r>
              <a:rPr lang="tr-TR" dirty="0" err="1" smtClean="0">
                <a:solidFill>
                  <a:srgbClr val="660066"/>
                </a:solidFill>
              </a:rPr>
              <a:t>void</a:t>
            </a:r>
            <a:r>
              <a:rPr lang="tr-TR" dirty="0" smtClean="0">
                <a:solidFill>
                  <a:srgbClr val="660066"/>
                </a:solidFill>
              </a:rPr>
              <a:t> </a:t>
            </a:r>
            <a:r>
              <a:rPr lang="tr-TR" dirty="0" err="1" smtClean="0">
                <a:solidFill>
                  <a:srgbClr val="660066"/>
                </a:solidFill>
              </a:rPr>
              <a:t>jButton_ekleActionPerformed</a:t>
            </a:r>
            <a:r>
              <a:rPr lang="tr-TR" dirty="0" smtClean="0">
                <a:solidFill>
                  <a:srgbClr val="660066"/>
                </a:solidFill>
              </a:rPr>
              <a:t>(</a:t>
            </a:r>
            <a:r>
              <a:rPr lang="tr-TR" dirty="0" err="1" smtClean="0">
                <a:solidFill>
                  <a:srgbClr val="660066"/>
                </a:solidFill>
              </a:rPr>
              <a:t>java.awt.event.ActionEvent</a:t>
            </a:r>
            <a:r>
              <a:rPr lang="tr-TR" dirty="0" smtClean="0">
                <a:solidFill>
                  <a:srgbClr val="660066"/>
                </a:solidFill>
              </a:rPr>
              <a:t> </a:t>
            </a:r>
            <a:r>
              <a:rPr lang="tr-TR" dirty="0" err="1" smtClean="0">
                <a:solidFill>
                  <a:srgbClr val="660066"/>
                </a:solidFill>
              </a:rPr>
              <a:t>evt</a:t>
            </a:r>
            <a:r>
              <a:rPr lang="tr-TR" dirty="0" smtClean="0">
                <a:solidFill>
                  <a:srgbClr val="660066"/>
                </a:solidFill>
              </a:rPr>
              <a:t>) {                                             	jTextField1.setEditable(</a:t>
            </a:r>
            <a:r>
              <a:rPr lang="tr-TR" dirty="0" err="1" smtClean="0">
                <a:solidFill>
                  <a:srgbClr val="660066"/>
                </a:solidFill>
              </a:rPr>
              <a:t>true</a:t>
            </a:r>
            <a:r>
              <a:rPr lang="tr-TR" dirty="0" smtClean="0">
                <a:solidFill>
                  <a:srgbClr val="660066"/>
                </a:solidFill>
              </a:rPr>
              <a:t>);</a:t>
            </a:r>
          </a:p>
          <a:p>
            <a:r>
              <a:rPr lang="tr-TR" dirty="0" smtClean="0">
                <a:solidFill>
                  <a:srgbClr val="660066"/>
                </a:solidFill>
              </a:rPr>
              <a:t>    }                                            </a:t>
            </a:r>
          </a:p>
          <a:p>
            <a:endParaRPr lang="tr-TR" dirty="0" smtClean="0">
              <a:solidFill>
                <a:srgbClr val="660066"/>
              </a:solidFill>
            </a:endParaRPr>
          </a:p>
          <a:p>
            <a:r>
              <a:rPr lang="tr-TR" dirty="0" smtClean="0">
                <a:solidFill>
                  <a:srgbClr val="660066"/>
                </a:solidFill>
              </a:rPr>
              <a:t>    </a:t>
            </a:r>
            <a:r>
              <a:rPr lang="tr-TR" dirty="0" err="1" smtClean="0">
                <a:solidFill>
                  <a:srgbClr val="660066"/>
                </a:solidFill>
              </a:rPr>
              <a:t>private</a:t>
            </a:r>
            <a:r>
              <a:rPr lang="tr-TR" dirty="0" smtClean="0">
                <a:solidFill>
                  <a:srgbClr val="660066"/>
                </a:solidFill>
              </a:rPr>
              <a:t> </a:t>
            </a:r>
            <a:r>
              <a:rPr lang="tr-TR" dirty="0" err="1" smtClean="0">
                <a:solidFill>
                  <a:srgbClr val="660066"/>
                </a:solidFill>
              </a:rPr>
              <a:t>void</a:t>
            </a:r>
            <a:r>
              <a:rPr lang="tr-TR" dirty="0" smtClean="0">
                <a:solidFill>
                  <a:srgbClr val="660066"/>
                </a:solidFill>
              </a:rPr>
              <a:t> </a:t>
            </a:r>
            <a:r>
              <a:rPr lang="tr-TR" dirty="0" err="1" smtClean="0">
                <a:solidFill>
                  <a:srgbClr val="660066"/>
                </a:solidFill>
              </a:rPr>
              <a:t>jButton_durActionPerformed</a:t>
            </a:r>
            <a:r>
              <a:rPr lang="tr-TR" dirty="0" smtClean="0">
                <a:solidFill>
                  <a:srgbClr val="660066"/>
                </a:solidFill>
              </a:rPr>
              <a:t>(</a:t>
            </a:r>
            <a:r>
              <a:rPr lang="tr-TR" dirty="0" err="1" smtClean="0">
                <a:solidFill>
                  <a:srgbClr val="660066"/>
                </a:solidFill>
              </a:rPr>
              <a:t>java.awt.event.ActionEvent</a:t>
            </a:r>
            <a:r>
              <a:rPr lang="tr-TR" dirty="0" smtClean="0">
                <a:solidFill>
                  <a:srgbClr val="660066"/>
                </a:solidFill>
              </a:rPr>
              <a:t> </a:t>
            </a:r>
            <a:r>
              <a:rPr lang="tr-TR" dirty="0" err="1" smtClean="0">
                <a:solidFill>
                  <a:srgbClr val="660066"/>
                </a:solidFill>
              </a:rPr>
              <a:t>evt</a:t>
            </a:r>
            <a:r>
              <a:rPr lang="tr-TR" dirty="0" smtClean="0">
                <a:solidFill>
                  <a:srgbClr val="660066"/>
                </a:solidFill>
              </a:rPr>
              <a:t>) {                                            </a:t>
            </a:r>
          </a:p>
          <a:p>
            <a:r>
              <a:rPr lang="tr-TR" dirty="0" smtClean="0">
                <a:solidFill>
                  <a:srgbClr val="660066"/>
                </a:solidFill>
              </a:rPr>
              <a:t>	jTextField1.setEditable(</a:t>
            </a:r>
            <a:r>
              <a:rPr lang="tr-TR" dirty="0" err="1" smtClean="0">
                <a:solidFill>
                  <a:srgbClr val="660066"/>
                </a:solidFill>
              </a:rPr>
              <a:t>false</a:t>
            </a:r>
            <a:r>
              <a:rPr lang="tr-TR" dirty="0" smtClean="0">
                <a:solidFill>
                  <a:srgbClr val="660066"/>
                </a:solidFill>
              </a:rPr>
              <a:t>);</a:t>
            </a:r>
          </a:p>
          <a:p>
            <a:endParaRPr lang="tr-TR" dirty="0" smtClean="0">
              <a:solidFill>
                <a:srgbClr val="660066"/>
              </a:solidFill>
            </a:endParaRPr>
          </a:p>
          <a:p>
            <a:r>
              <a:rPr lang="tr-TR" dirty="0" smtClean="0">
                <a:solidFill>
                  <a:srgbClr val="660066"/>
                </a:solidFill>
              </a:rPr>
              <a:t>    }                                           </a:t>
            </a:r>
          </a:p>
          <a:p>
            <a:endParaRPr lang="tr-TR" dirty="0" smtClean="0">
              <a:solidFill>
                <a:srgbClr val="660066"/>
              </a:solidFill>
            </a:endParaRPr>
          </a:p>
          <a:p>
            <a:r>
              <a:rPr lang="tr-TR" dirty="0" smtClean="0">
                <a:solidFill>
                  <a:srgbClr val="660066"/>
                </a:solidFill>
              </a:rPr>
              <a:t>    </a:t>
            </a:r>
            <a:r>
              <a:rPr lang="tr-TR" dirty="0" err="1" smtClean="0">
                <a:solidFill>
                  <a:srgbClr val="660066"/>
                </a:solidFill>
              </a:rPr>
              <a:t>private</a:t>
            </a:r>
            <a:r>
              <a:rPr lang="tr-TR" dirty="0" smtClean="0">
                <a:solidFill>
                  <a:srgbClr val="660066"/>
                </a:solidFill>
              </a:rPr>
              <a:t> </a:t>
            </a:r>
            <a:r>
              <a:rPr lang="tr-TR" dirty="0" err="1" smtClean="0">
                <a:solidFill>
                  <a:srgbClr val="660066"/>
                </a:solidFill>
              </a:rPr>
              <a:t>void</a:t>
            </a:r>
            <a:r>
              <a:rPr lang="tr-TR" dirty="0" smtClean="0">
                <a:solidFill>
                  <a:srgbClr val="660066"/>
                </a:solidFill>
              </a:rPr>
              <a:t> </a:t>
            </a:r>
            <a:r>
              <a:rPr lang="tr-TR" dirty="0" err="1" smtClean="0">
                <a:solidFill>
                  <a:srgbClr val="660066"/>
                </a:solidFill>
              </a:rPr>
              <a:t>jButton_ekleİtemStateChanged</a:t>
            </a:r>
            <a:r>
              <a:rPr lang="tr-TR" dirty="0" smtClean="0">
                <a:solidFill>
                  <a:srgbClr val="660066"/>
                </a:solidFill>
              </a:rPr>
              <a:t>(</a:t>
            </a:r>
            <a:r>
              <a:rPr lang="tr-TR" dirty="0" err="1" smtClean="0">
                <a:solidFill>
                  <a:srgbClr val="660066"/>
                </a:solidFill>
              </a:rPr>
              <a:t>java.awt.event.ItemEvent</a:t>
            </a:r>
            <a:r>
              <a:rPr lang="tr-TR" dirty="0" smtClean="0">
                <a:solidFill>
                  <a:srgbClr val="660066"/>
                </a:solidFill>
              </a:rPr>
              <a:t> </a:t>
            </a:r>
            <a:r>
              <a:rPr lang="tr-TR" dirty="0" err="1" smtClean="0">
                <a:solidFill>
                  <a:srgbClr val="660066"/>
                </a:solidFill>
              </a:rPr>
              <a:t>evt</a:t>
            </a:r>
            <a:r>
              <a:rPr lang="tr-TR" dirty="0" smtClean="0">
                <a:solidFill>
                  <a:srgbClr val="660066"/>
                </a:solidFill>
              </a:rPr>
              <a:t>) {                                              </a:t>
            </a:r>
          </a:p>
          <a:p>
            <a:r>
              <a:rPr lang="tr-TR" dirty="0" smtClean="0">
                <a:solidFill>
                  <a:srgbClr val="660066"/>
                </a:solidFill>
              </a:rPr>
              <a:t>       	 jTextField1.setEditable(</a:t>
            </a:r>
            <a:r>
              <a:rPr lang="tr-TR" dirty="0" err="1" smtClean="0">
                <a:solidFill>
                  <a:srgbClr val="660066"/>
                </a:solidFill>
              </a:rPr>
              <a:t>false</a:t>
            </a:r>
            <a:r>
              <a:rPr lang="tr-TR" dirty="0" smtClean="0">
                <a:solidFill>
                  <a:srgbClr val="660066"/>
                </a:solidFill>
              </a:rPr>
              <a:t>);</a:t>
            </a:r>
          </a:p>
          <a:p>
            <a:r>
              <a:rPr lang="tr-TR" dirty="0" smtClean="0">
                <a:solidFill>
                  <a:srgbClr val="660066"/>
                </a:solidFill>
              </a:rPr>
              <a:t>    }                                             </a:t>
            </a:r>
          </a:p>
          <a:p>
            <a:endParaRPr lang="tr-TR" dirty="0" smtClean="0">
              <a:solidFill>
                <a:srgbClr val="660066"/>
              </a:solidFill>
            </a:endParaRPr>
          </a:p>
          <a:p>
            <a:r>
              <a:rPr lang="tr-TR" dirty="0" smtClean="0">
                <a:solidFill>
                  <a:srgbClr val="660066"/>
                </a:solidFill>
              </a:rPr>
              <a:t>    </a:t>
            </a:r>
            <a:r>
              <a:rPr lang="tr-TR" dirty="0" err="1" smtClean="0">
                <a:solidFill>
                  <a:srgbClr val="660066"/>
                </a:solidFill>
              </a:rPr>
              <a:t>private</a:t>
            </a:r>
            <a:r>
              <a:rPr lang="tr-TR" dirty="0" smtClean="0">
                <a:solidFill>
                  <a:srgbClr val="660066"/>
                </a:solidFill>
              </a:rPr>
              <a:t> </a:t>
            </a:r>
            <a:r>
              <a:rPr lang="tr-TR" dirty="0" err="1" smtClean="0">
                <a:solidFill>
                  <a:srgbClr val="660066"/>
                </a:solidFill>
              </a:rPr>
              <a:t>void</a:t>
            </a:r>
            <a:r>
              <a:rPr lang="tr-TR" dirty="0" smtClean="0">
                <a:solidFill>
                  <a:srgbClr val="660066"/>
                </a:solidFill>
              </a:rPr>
              <a:t> </a:t>
            </a:r>
            <a:r>
              <a:rPr lang="tr-TR" dirty="0" err="1" smtClean="0">
                <a:solidFill>
                  <a:srgbClr val="660066"/>
                </a:solidFill>
              </a:rPr>
              <a:t>jButton_durİtemStateChanged</a:t>
            </a:r>
            <a:r>
              <a:rPr lang="tr-TR" dirty="0" smtClean="0">
                <a:solidFill>
                  <a:srgbClr val="660066"/>
                </a:solidFill>
              </a:rPr>
              <a:t>(</a:t>
            </a:r>
            <a:r>
              <a:rPr lang="tr-TR" dirty="0" err="1" smtClean="0">
                <a:solidFill>
                  <a:srgbClr val="660066"/>
                </a:solidFill>
              </a:rPr>
              <a:t>java.awt.event.ItemEvent</a:t>
            </a:r>
            <a:r>
              <a:rPr lang="tr-TR" dirty="0" smtClean="0">
                <a:solidFill>
                  <a:srgbClr val="660066"/>
                </a:solidFill>
              </a:rPr>
              <a:t> </a:t>
            </a:r>
            <a:r>
              <a:rPr lang="tr-TR" dirty="0" err="1" smtClean="0">
                <a:solidFill>
                  <a:srgbClr val="660066"/>
                </a:solidFill>
              </a:rPr>
              <a:t>evt</a:t>
            </a:r>
            <a:r>
              <a:rPr lang="tr-TR" dirty="0" smtClean="0">
                <a:solidFill>
                  <a:srgbClr val="660066"/>
                </a:solidFill>
              </a:rPr>
              <a:t>) {                                             </a:t>
            </a:r>
          </a:p>
          <a:p>
            <a:r>
              <a:rPr lang="tr-TR" dirty="0" smtClean="0">
                <a:solidFill>
                  <a:srgbClr val="660066"/>
                </a:solidFill>
              </a:rPr>
              <a:t>	 jTextField1.setEditable(</a:t>
            </a:r>
            <a:r>
              <a:rPr lang="tr-TR" dirty="0" err="1" smtClean="0">
                <a:solidFill>
                  <a:srgbClr val="660066"/>
                </a:solidFill>
              </a:rPr>
              <a:t>true</a:t>
            </a:r>
            <a:r>
              <a:rPr lang="tr-TR" dirty="0" smtClean="0">
                <a:solidFill>
                  <a:srgbClr val="660066"/>
                </a:solidFill>
              </a:rPr>
              <a:t>);</a:t>
            </a:r>
          </a:p>
          <a:p>
            <a:r>
              <a:rPr lang="tr-TR" dirty="0" smtClean="0">
                <a:solidFill>
                  <a:srgbClr val="660066"/>
                </a:solidFill>
              </a:rPr>
              <a:t>    } </a:t>
            </a:r>
          </a:p>
          <a:p>
            <a:endParaRPr lang="tr-TR" dirty="0">
              <a:solidFill>
                <a:srgbClr val="660066"/>
              </a:solidFill>
            </a:endParaRPr>
          </a:p>
          <a:p>
            <a:r>
              <a:rPr lang="tr-TR" dirty="0" smtClean="0">
                <a:solidFill>
                  <a:srgbClr val="660066"/>
                </a:solidFill>
              </a:rPr>
              <a:t>// J</a:t>
            </a:r>
            <a:endParaRPr lang="tr-TR" dirty="0">
              <a:solidFill>
                <a:srgbClr val="660066"/>
              </a:solidFill>
            </a:endParaRPr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3122" y="0"/>
            <a:ext cx="4398878" cy="328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78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5160" y="0"/>
            <a:ext cx="3316840" cy="2503763"/>
          </a:xfrm>
          <a:prstGeom prst="rect">
            <a:avLst/>
          </a:prstGeom>
        </p:spPr>
      </p:pic>
      <p:sp>
        <p:nvSpPr>
          <p:cNvPr id="4" name="Dikdörtgen 3"/>
          <p:cNvSpPr/>
          <p:nvPr/>
        </p:nvSpPr>
        <p:spPr>
          <a:xfrm>
            <a:off x="0" y="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dirty="0" err="1" smtClean="0"/>
              <a:t>public</a:t>
            </a:r>
            <a:r>
              <a:rPr lang="tr-TR" dirty="0" smtClean="0"/>
              <a:t> NewJFrame4() {</a:t>
            </a:r>
          </a:p>
          <a:p>
            <a:r>
              <a:rPr lang="tr-TR" dirty="0" smtClean="0"/>
              <a:t>        </a:t>
            </a:r>
            <a:r>
              <a:rPr lang="tr-TR" dirty="0" err="1" smtClean="0"/>
              <a:t>initComponents</a:t>
            </a:r>
            <a:r>
              <a:rPr lang="tr-TR" dirty="0" smtClean="0"/>
              <a:t>();</a:t>
            </a:r>
          </a:p>
          <a:p>
            <a:r>
              <a:rPr lang="tr-TR" dirty="0" smtClean="0"/>
              <a:t>            </a:t>
            </a:r>
            <a:r>
              <a:rPr lang="tr-TR" dirty="0" err="1" smtClean="0"/>
              <a:t>Integer</a:t>
            </a:r>
            <a:r>
              <a:rPr lang="tr-TR" dirty="0" smtClean="0"/>
              <a:t> </a:t>
            </a:r>
            <a:r>
              <a:rPr lang="tr-TR" dirty="0" err="1" smtClean="0"/>
              <a:t>sayac</a:t>
            </a:r>
            <a:r>
              <a:rPr lang="tr-TR" dirty="0" smtClean="0"/>
              <a:t>=0;</a:t>
            </a:r>
          </a:p>
          <a:p>
            <a:r>
              <a:rPr lang="tr-TR" dirty="0" smtClean="0"/>
              <a:t>    }</a:t>
            </a:r>
            <a:endParaRPr lang="tr-TR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35" y="1200328"/>
            <a:ext cx="7224765" cy="576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840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kdörtgen 2"/>
          <p:cNvSpPr/>
          <p:nvPr/>
        </p:nvSpPr>
        <p:spPr>
          <a:xfrm>
            <a:off x="0" y="0"/>
            <a:ext cx="11053186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private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void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jB_DegerAlActionPerformed</a:t>
            </a:r>
            <a:r>
              <a:rPr lang="tr-TR" dirty="0" smtClean="0">
                <a:solidFill>
                  <a:srgbClr val="FF0000"/>
                </a:solidFill>
              </a:rPr>
              <a:t>(</a:t>
            </a:r>
            <a:r>
              <a:rPr lang="tr-TR" dirty="0" err="1" smtClean="0">
                <a:solidFill>
                  <a:srgbClr val="FF0000"/>
                </a:solidFill>
              </a:rPr>
              <a:t>java.awt.event.ActionEvent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evt</a:t>
            </a:r>
            <a:r>
              <a:rPr lang="tr-TR" dirty="0" smtClean="0">
                <a:solidFill>
                  <a:srgbClr val="FF0000"/>
                </a:solidFill>
              </a:rPr>
              <a:t>) {                                           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    // TODO </a:t>
            </a:r>
            <a:r>
              <a:rPr lang="tr-TR" dirty="0" err="1" smtClean="0">
                <a:solidFill>
                  <a:srgbClr val="FF0000"/>
                </a:solidFill>
              </a:rPr>
              <a:t>add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your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handling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code</a:t>
            </a:r>
            <a:r>
              <a:rPr lang="tr-TR" dirty="0" smtClean="0">
                <a:solidFill>
                  <a:srgbClr val="FF0000"/>
                </a:solidFill>
              </a:rPr>
              <a:t> here: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    </a:t>
            </a:r>
            <a:r>
              <a:rPr lang="tr-TR" dirty="0" err="1" smtClean="0">
                <a:solidFill>
                  <a:srgbClr val="FF0000"/>
                </a:solidFill>
              </a:rPr>
              <a:t>int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deger</a:t>
            </a:r>
            <a:r>
              <a:rPr lang="tr-TR" dirty="0" smtClean="0">
                <a:solidFill>
                  <a:srgbClr val="FF0000"/>
                </a:solidFill>
              </a:rPr>
              <a:t> = jSlider1.getValue();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    jLabel1.setText(</a:t>
            </a:r>
            <a:r>
              <a:rPr lang="tr-TR" dirty="0" err="1" smtClean="0">
                <a:solidFill>
                  <a:srgbClr val="FF0000"/>
                </a:solidFill>
              </a:rPr>
              <a:t>String.valueOf</a:t>
            </a:r>
            <a:r>
              <a:rPr lang="tr-TR" dirty="0" smtClean="0">
                <a:solidFill>
                  <a:srgbClr val="FF0000"/>
                </a:solidFill>
              </a:rPr>
              <a:t>(</a:t>
            </a:r>
            <a:r>
              <a:rPr lang="tr-TR" dirty="0" err="1" smtClean="0">
                <a:solidFill>
                  <a:srgbClr val="FF0000"/>
                </a:solidFill>
              </a:rPr>
              <a:t>deger</a:t>
            </a:r>
            <a:r>
              <a:rPr lang="tr-TR" dirty="0" smtClean="0">
                <a:solidFill>
                  <a:srgbClr val="FF0000"/>
                </a:solidFill>
              </a:rPr>
              <a:t>));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}                                          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</a:t>
            </a:r>
            <a:r>
              <a:rPr lang="tr-TR" dirty="0" err="1" smtClean="0">
                <a:solidFill>
                  <a:srgbClr val="FF0000"/>
                </a:solidFill>
              </a:rPr>
              <a:t>private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void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jB_DegerDegistirActionPerformed</a:t>
            </a:r>
            <a:r>
              <a:rPr lang="tr-TR" dirty="0" smtClean="0">
                <a:solidFill>
                  <a:srgbClr val="FF0000"/>
                </a:solidFill>
              </a:rPr>
              <a:t>(</a:t>
            </a:r>
            <a:r>
              <a:rPr lang="tr-TR" dirty="0" err="1" smtClean="0">
                <a:solidFill>
                  <a:srgbClr val="FF0000"/>
                </a:solidFill>
              </a:rPr>
              <a:t>java.awt.event.ActionEvent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evt</a:t>
            </a:r>
            <a:r>
              <a:rPr lang="tr-TR" dirty="0" smtClean="0">
                <a:solidFill>
                  <a:srgbClr val="FF0000"/>
                </a:solidFill>
              </a:rPr>
              <a:t>) {                                                            	</a:t>
            </a:r>
            <a:r>
              <a:rPr lang="tr-TR" dirty="0" err="1" smtClean="0">
                <a:solidFill>
                  <a:srgbClr val="FF0000"/>
                </a:solidFill>
              </a:rPr>
              <a:t>Random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rnd</a:t>
            </a:r>
            <a:r>
              <a:rPr lang="tr-TR" dirty="0" smtClean="0">
                <a:solidFill>
                  <a:srgbClr val="FF0000"/>
                </a:solidFill>
              </a:rPr>
              <a:t>=</a:t>
            </a:r>
            <a:r>
              <a:rPr lang="tr-TR" dirty="0" err="1" smtClean="0">
                <a:solidFill>
                  <a:srgbClr val="FF0000"/>
                </a:solidFill>
              </a:rPr>
              <a:t>new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Random</a:t>
            </a:r>
            <a:r>
              <a:rPr lang="tr-TR" dirty="0" smtClean="0">
                <a:solidFill>
                  <a:srgbClr val="FF0000"/>
                </a:solidFill>
              </a:rPr>
              <a:t>();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    // her tıklandığında </a:t>
            </a:r>
            <a:r>
              <a:rPr lang="tr-TR" dirty="0" err="1" smtClean="0">
                <a:solidFill>
                  <a:srgbClr val="FF0000"/>
                </a:solidFill>
              </a:rPr>
              <a:t>random</a:t>
            </a:r>
            <a:r>
              <a:rPr lang="tr-TR" dirty="0" smtClean="0">
                <a:solidFill>
                  <a:srgbClr val="FF0000"/>
                </a:solidFill>
              </a:rPr>
              <a:t> değer atayacaktır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    </a:t>
            </a:r>
            <a:r>
              <a:rPr lang="tr-TR" dirty="0" err="1" smtClean="0">
                <a:solidFill>
                  <a:srgbClr val="FF0000"/>
                </a:solidFill>
              </a:rPr>
              <a:t>int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deger</a:t>
            </a:r>
            <a:r>
              <a:rPr lang="tr-TR" dirty="0" smtClean="0">
                <a:solidFill>
                  <a:srgbClr val="FF0000"/>
                </a:solidFill>
              </a:rPr>
              <a:t> = </a:t>
            </a:r>
            <a:r>
              <a:rPr lang="tr-TR" dirty="0" err="1" smtClean="0">
                <a:solidFill>
                  <a:srgbClr val="FF0000"/>
                </a:solidFill>
              </a:rPr>
              <a:t>rnd.nextInt</a:t>
            </a:r>
            <a:r>
              <a:rPr lang="tr-TR" dirty="0" smtClean="0">
                <a:solidFill>
                  <a:srgbClr val="FF0000"/>
                </a:solidFill>
              </a:rPr>
              <a:t>(101); // </a:t>
            </a:r>
            <a:r>
              <a:rPr lang="tr-TR" dirty="0" err="1" smtClean="0">
                <a:solidFill>
                  <a:srgbClr val="FF0000"/>
                </a:solidFill>
              </a:rPr>
              <a:t>randomun</a:t>
            </a:r>
            <a:r>
              <a:rPr lang="tr-TR" dirty="0" smtClean="0">
                <a:solidFill>
                  <a:srgbClr val="FF0000"/>
                </a:solidFill>
              </a:rPr>
              <a:t> aralığı 0-100 arasında 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    jSlider1.setValue(</a:t>
            </a:r>
            <a:r>
              <a:rPr lang="tr-TR" dirty="0" err="1" smtClean="0">
                <a:solidFill>
                  <a:srgbClr val="FF0000"/>
                </a:solidFill>
              </a:rPr>
              <a:t>deger</a:t>
            </a:r>
            <a:r>
              <a:rPr lang="tr-TR" dirty="0" smtClean="0">
                <a:solidFill>
                  <a:srgbClr val="FF0000"/>
                </a:solidFill>
              </a:rPr>
              <a:t>);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}                                                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</a:t>
            </a:r>
            <a:r>
              <a:rPr lang="tr-TR" dirty="0" err="1" smtClean="0">
                <a:solidFill>
                  <a:srgbClr val="FF0000"/>
                </a:solidFill>
              </a:rPr>
              <a:t>private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void</a:t>
            </a:r>
            <a:r>
              <a:rPr lang="tr-TR" dirty="0" smtClean="0">
                <a:solidFill>
                  <a:srgbClr val="FF0000"/>
                </a:solidFill>
              </a:rPr>
              <a:t> jSlider1StateChanged(</a:t>
            </a:r>
            <a:r>
              <a:rPr lang="tr-TR" dirty="0" err="1" smtClean="0">
                <a:solidFill>
                  <a:srgbClr val="FF0000"/>
                </a:solidFill>
              </a:rPr>
              <a:t>javax.swing.event.ChangeEvent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evt</a:t>
            </a:r>
            <a:r>
              <a:rPr lang="tr-TR" dirty="0" smtClean="0">
                <a:solidFill>
                  <a:srgbClr val="FF0000"/>
                </a:solidFill>
              </a:rPr>
              <a:t>) {                                      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    // TODO </a:t>
            </a:r>
            <a:r>
              <a:rPr lang="tr-TR" dirty="0" err="1" smtClean="0">
                <a:solidFill>
                  <a:srgbClr val="FF0000"/>
                </a:solidFill>
              </a:rPr>
              <a:t>add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your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handling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code</a:t>
            </a:r>
            <a:r>
              <a:rPr lang="tr-TR" dirty="0" smtClean="0">
                <a:solidFill>
                  <a:srgbClr val="FF0000"/>
                </a:solidFill>
              </a:rPr>
              <a:t> here: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     </a:t>
            </a:r>
            <a:r>
              <a:rPr lang="tr-TR" dirty="0" err="1" smtClean="0">
                <a:solidFill>
                  <a:srgbClr val="FF0000"/>
                </a:solidFill>
              </a:rPr>
              <a:t>int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deger</a:t>
            </a:r>
            <a:r>
              <a:rPr lang="tr-TR" dirty="0" smtClean="0">
                <a:solidFill>
                  <a:srgbClr val="FF0000"/>
                </a:solidFill>
              </a:rPr>
              <a:t> = jSlider1.getValue();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    jLabel2.setText(</a:t>
            </a:r>
            <a:r>
              <a:rPr lang="tr-TR" dirty="0" err="1" smtClean="0">
                <a:solidFill>
                  <a:srgbClr val="FF0000"/>
                </a:solidFill>
              </a:rPr>
              <a:t>String.valueOf</a:t>
            </a:r>
            <a:r>
              <a:rPr lang="tr-TR" dirty="0" smtClean="0">
                <a:solidFill>
                  <a:srgbClr val="FF0000"/>
                </a:solidFill>
              </a:rPr>
              <a:t>(</a:t>
            </a:r>
            <a:r>
              <a:rPr lang="tr-TR" dirty="0" err="1" smtClean="0">
                <a:solidFill>
                  <a:srgbClr val="FF0000"/>
                </a:solidFill>
              </a:rPr>
              <a:t>deger</a:t>
            </a:r>
            <a:r>
              <a:rPr lang="tr-TR" dirty="0" smtClean="0">
                <a:solidFill>
                  <a:srgbClr val="FF0000"/>
                </a:solidFill>
              </a:rPr>
              <a:t>));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}                                     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</a:t>
            </a:r>
            <a:r>
              <a:rPr lang="tr-TR" dirty="0" err="1" smtClean="0">
                <a:solidFill>
                  <a:srgbClr val="FF0000"/>
                </a:solidFill>
              </a:rPr>
              <a:t>private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void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jB_MaxActionPerformed</a:t>
            </a:r>
            <a:r>
              <a:rPr lang="tr-TR" dirty="0" smtClean="0">
                <a:solidFill>
                  <a:srgbClr val="FF0000"/>
                </a:solidFill>
              </a:rPr>
              <a:t>(</a:t>
            </a:r>
            <a:r>
              <a:rPr lang="tr-TR" dirty="0" err="1" smtClean="0">
                <a:solidFill>
                  <a:srgbClr val="FF0000"/>
                </a:solidFill>
              </a:rPr>
              <a:t>java.awt.event.ActionEvent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evt</a:t>
            </a:r>
            <a:r>
              <a:rPr lang="tr-TR" dirty="0" smtClean="0">
                <a:solidFill>
                  <a:srgbClr val="FF0000"/>
                </a:solidFill>
              </a:rPr>
              <a:t>) {                                       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    jSlider1.setMaximum(90);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   // </a:t>
            </a:r>
            <a:r>
              <a:rPr lang="tr-TR" dirty="0" err="1" smtClean="0">
                <a:solidFill>
                  <a:srgbClr val="FF0000"/>
                </a:solidFill>
              </a:rPr>
              <a:t>max</a:t>
            </a:r>
            <a:r>
              <a:rPr lang="tr-TR" dirty="0" smtClean="0">
                <a:solidFill>
                  <a:srgbClr val="FF0000"/>
                </a:solidFill>
              </a:rPr>
              <a:t> değeri ayarlar bunu </a:t>
            </a:r>
            <a:r>
              <a:rPr lang="tr-TR" dirty="0" err="1" smtClean="0">
                <a:solidFill>
                  <a:srgbClr val="FF0000"/>
                </a:solidFill>
              </a:rPr>
              <a:t>proparties</a:t>
            </a:r>
            <a:r>
              <a:rPr lang="tr-TR" dirty="0" smtClean="0">
                <a:solidFill>
                  <a:srgbClr val="FF0000"/>
                </a:solidFill>
              </a:rPr>
              <a:t> kısmından da yapabiliriz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}                                      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</a:t>
            </a:r>
            <a:r>
              <a:rPr lang="tr-TR" dirty="0" err="1" smtClean="0">
                <a:solidFill>
                  <a:srgbClr val="FF0000"/>
                </a:solidFill>
              </a:rPr>
              <a:t>private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void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jB_MinActionPerformed</a:t>
            </a:r>
            <a:r>
              <a:rPr lang="tr-TR" dirty="0" smtClean="0">
                <a:solidFill>
                  <a:srgbClr val="FF0000"/>
                </a:solidFill>
              </a:rPr>
              <a:t>(</a:t>
            </a:r>
            <a:r>
              <a:rPr lang="tr-TR" dirty="0" err="1" smtClean="0">
                <a:solidFill>
                  <a:srgbClr val="FF0000"/>
                </a:solidFill>
              </a:rPr>
              <a:t>java.awt.event.ActionEvent</a:t>
            </a:r>
            <a:r>
              <a:rPr lang="tr-TR" dirty="0" smtClean="0">
                <a:solidFill>
                  <a:srgbClr val="FF0000"/>
                </a:solidFill>
              </a:rPr>
              <a:t> </a:t>
            </a:r>
            <a:r>
              <a:rPr lang="tr-TR" dirty="0" err="1" smtClean="0">
                <a:solidFill>
                  <a:srgbClr val="FF0000"/>
                </a:solidFill>
              </a:rPr>
              <a:t>evt</a:t>
            </a:r>
            <a:r>
              <a:rPr lang="tr-TR" dirty="0" smtClean="0">
                <a:solidFill>
                  <a:srgbClr val="FF0000"/>
                </a:solidFill>
              </a:rPr>
              <a:t>) {                                       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     // </a:t>
            </a:r>
            <a:r>
              <a:rPr lang="tr-TR" dirty="0" err="1" smtClean="0">
                <a:solidFill>
                  <a:srgbClr val="FF0000"/>
                </a:solidFill>
              </a:rPr>
              <a:t>min</a:t>
            </a:r>
            <a:r>
              <a:rPr lang="tr-TR" dirty="0" smtClean="0">
                <a:solidFill>
                  <a:srgbClr val="FF0000"/>
                </a:solidFill>
              </a:rPr>
              <a:t> değeri ayarlar bunu </a:t>
            </a:r>
            <a:r>
              <a:rPr lang="tr-TR" dirty="0" err="1" smtClean="0">
                <a:solidFill>
                  <a:srgbClr val="FF0000"/>
                </a:solidFill>
              </a:rPr>
              <a:t>proparties</a:t>
            </a:r>
            <a:r>
              <a:rPr lang="tr-TR" dirty="0" smtClean="0">
                <a:solidFill>
                  <a:srgbClr val="FF0000"/>
                </a:solidFill>
              </a:rPr>
              <a:t> kısmından da yapabiliriz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    jSlider1.setMinimum(10);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    } </a:t>
            </a:r>
            <a:endParaRPr lang="tr-TR" dirty="0">
              <a:solidFill>
                <a:srgbClr val="FF0000"/>
              </a:solidFill>
            </a:endParaRP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7956" y="0"/>
            <a:ext cx="4304044" cy="3267885"/>
          </a:xfrm>
          <a:prstGeom prst="rect">
            <a:avLst/>
          </a:prstGeom>
        </p:spPr>
      </p:pic>
      <p:graphicFrame>
        <p:nvGraphicFramePr>
          <p:cNvPr id="6" name="Tablo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912838"/>
              </p:ext>
            </p:extLst>
          </p:nvPr>
        </p:nvGraphicFramePr>
        <p:xfrm>
          <a:off x="8392048" y="3452817"/>
          <a:ext cx="329586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5860">
                  <a:extLst>
                    <a:ext uri="{9D8B030D-6E8A-4147-A177-3AD203B41FA5}">
                      <a16:colId xmlns:a16="http://schemas.microsoft.com/office/drawing/2014/main" val="19777508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tr-TR" dirty="0" smtClean="0">
                          <a:solidFill>
                            <a:srgbClr val="FFFF00"/>
                          </a:solidFill>
                        </a:rPr>
                        <a:t>jSlider1</a:t>
                      </a:r>
                      <a:r>
                        <a:rPr lang="tr-TR" baseline="0" dirty="0" smtClean="0">
                          <a:solidFill>
                            <a:srgbClr val="FFFF00"/>
                          </a:solidFill>
                        </a:rPr>
                        <a:t> 0-100 arasında sayı</a:t>
                      </a:r>
                    </a:p>
                    <a:p>
                      <a:r>
                        <a:rPr lang="tr-TR" baseline="0" dirty="0" smtClean="0">
                          <a:solidFill>
                            <a:srgbClr val="FFFF00"/>
                          </a:solidFill>
                        </a:rPr>
                        <a:t> değerleri tutar</a:t>
                      </a:r>
                      <a:endParaRPr lang="tr-TR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99141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603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D3D0CF"/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0169" y="-70338"/>
            <a:ext cx="4351831" cy="2752787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840169" cy="6801799"/>
          </a:xfrm>
          <a:prstGeom prst="rect">
            <a:avLst/>
          </a:prstGeom>
        </p:spPr>
      </p:pic>
      <p:sp>
        <p:nvSpPr>
          <p:cNvPr id="7" name="Dikdörtgen 6"/>
          <p:cNvSpPr/>
          <p:nvPr/>
        </p:nvSpPr>
        <p:spPr>
          <a:xfrm>
            <a:off x="7930662" y="2760784"/>
            <a:ext cx="30481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 err="1"/>
              <a:t>setStringPainted</a:t>
            </a:r>
            <a:r>
              <a:rPr lang="tr-TR" dirty="0"/>
              <a:t>(</a:t>
            </a:r>
            <a:r>
              <a:rPr lang="tr-TR" dirty="0" err="1"/>
              <a:t>true</a:t>
            </a:r>
            <a:r>
              <a:rPr lang="tr-TR" dirty="0" smtClean="0"/>
              <a:t>);</a:t>
            </a:r>
          </a:p>
          <a:p>
            <a:r>
              <a:rPr lang="tr-TR" dirty="0" smtClean="0"/>
              <a:t> </a:t>
            </a:r>
            <a:r>
              <a:rPr lang="tr-TR" dirty="0"/>
              <a:t>// yüzdeyi </a:t>
            </a:r>
            <a:r>
              <a:rPr lang="tr-TR" dirty="0" err="1"/>
              <a:t>true</a:t>
            </a:r>
            <a:r>
              <a:rPr lang="tr-TR" dirty="0"/>
              <a:t> ile </a:t>
            </a:r>
            <a:r>
              <a:rPr lang="tr-TR" dirty="0" smtClean="0"/>
              <a:t>göster</a:t>
            </a:r>
          </a:p>
          <a:p>
            <a:r>
              <a:rPr lang="tr-TR" dirty="0" err="1" smtClean="0"/>
              <a:t>setStringPainted</a:t>
            </a:r>
            <a:r>
              <a:rPr lang="tr-TR" dirty="0" smtClean="0"/>
              <a:t>(</a:t>
            </a:r>
            <a:r>
              <a:rPr lang="tr-TR" dirty="0" err="1" smtClean="0"/>
              <a:t>false</a:t>
            </a:r>
            <a:r>
              <a:rPr lang="tr-TR" dirty="0" smtClean="0"/>
              <a:t>);</a:t>
            </a:r>
            <a:endParaRPr lang="tr-TR" dirty="0"/>
          </a:p>
          <a:p>
            <a:r>
              <a:rPr lang="tr-TR" dirty="0"/>
              <a:t> // yüzdeyi </a:t>
            </a:r>
            <a:r>
              <a:rPr lang="tr-TR" dirty="0" err="1" smtClean="0"/>
              <a:t>false</a:t>
            </a:r>
            <a:r>
              <a:rPr lang="tr-TR" dirty="0" smtClean="0"/>
              <a:t> </a:t>
            </a:r>
            <a:r>
              <a:rPr lang="tr-TR" dirty="0"/>
              <a:t>ile </a:t>
            </a:r>
            <a:r>
              <a:rPr lang="tr-TR" dirty="0" smtClean="0"/>
              <a:t>gizle</a:t>
            </a: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99589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299183" cy="7011378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860" y="276330"/>
            <a:ext cx="4096322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888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75000"/>
              </a:schemeClr>
            </a:gs>
            <a:gs pos="100000">
              <a:srgbClr val="D3D0CF"/>
            </a:gs>
            <a:gs pos="27000">
              <a:schemeClr val="accent1">
                <a:lumMod val="30000"/>
                <a:lumOff val="70000"/>
              </a:schemeClr>
            </a:gs>
          </a:gsLst>
          <a:lin ang="8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2993" y="0"/>
            <a:ext cx="3989007" cy="2821918"/>
          </a:xfrm>
          <a:prstGeom prst="rect">
            <a:avLst/>
          </a:prstGeom>
        </p:spPr>
      </p:pic>
      <p:sp>
        <p:nvSpPr>
          <p:cNvPr id="4" name="Dikdörtgen 3"/>
          <p:cNvSpPr/>
          <p:nvPr/>
        </p:nvSpPr>
        <p:spPr>
          <a:xfrm>
            <a:off x="0" y="0"/>
            <a:ext cx="8742066" cy="72448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/>
              <a:t> </a:t>
            </a:r>
            <a:r>
              <a:rPr lang="tr-TR" dirty="0" err="1"/>
              <a:t>private</a:t>
            </a:r>
            <a:r>
              <a:rPr lang="tr-TR" dirty="0"/>
              <a:t> </a:t>
            </a:r>
            <a:r>
              <a:rPr lang="tr-TR" dirty="0" err="1"/>
              <a:t>void</a:t>
            </a:r>
            <a:r>
              <a:rPr lang="tr-TR" dirty="0"/>
              <a:t> jButton1_DegerAlActionPerformed(</a:t>
            </a:r>
            <a:r>
              <a:rPr lang="tr-TR" dirty="0" err="1"/>
              <a:t>java.awt.event.ActionEvent</a:t>
            </a:r>
            <a:r>
              <a:rPr lang="tr-TR" dirty="0"/>
              <a:t> </a:t>
            </a:r>
            <a:r>
              <a:rPr lang="tr-TR" dirty="0" err="1"/>
              <a:t>evt</a:t>
            </a:r>
            <a:r>
              <a:rPr lang="tr-TR" dirty="0"/>
              <a:t>) {                                                 </a:t>
            </a:r>
          </a:p>
          <a:p>
            <a:r>
              <a:rPr lang="tr-TR" dirty="0"/>
              <a:t>        </a:t>
            </a:r>
            <a:r>
              <a:rPr lang="tr-TR" dirty="0" err="1"/>
              <a:t>char</a:t>
            </a:r>
            <a:r>
              <a:rPr lang="tr-TR" dirty="0"/>
              <a:t>[] karakterler = </a:t>
            </a:r>
            <a:r>
              <a:rPr lang="tr-TR" dirty="0" err="1"/>
              <a:t>jP_SIFRE.getPassword</a:t>
            </a:r>
            <a:r>
              <a:rPr lang="tr-TR" dirty="0"/>
              <a:t>();</a:t>
            </a:r>
          </a:p>
          <a:p>
            <a:r>
              <a:rPr lang="tr-TR" dirty="0"/>
              <a:t>        </a:t>
            </a:r>
            <a:r>
              <a:rPr lang="tr-TR" dirty="0" err="1"/>
              <a:t>String</a:t>
            </a:r>
            <a:r>
              <a:rPr lang="tr-TR" dirty="0"/>
              <a:t> </a:t>
            </a:r>
            <a:r>
              <a:rPr lang="tr-TR" dirty="0" err="1"/>
              <a:t>sifre</a:t>
            </a:r>
            <a:r>
              <a:rPr lang="tr-TR" dirty="0"/>
              <a:t>=</a:t>
            </a:r>
            <a:r>
              <a:rPr lang="tr-TR" dirty="0" err="1"/>
              <a:t>new</a:t>
            </a:r>
            <a:r>
              <a:rPr lang="tr-TR" dirty="0"/>
              <a:t> </a:t>
            </a:r>
            <a:r>
              <a:rPr lang="tr-TR" dirty="0" err="1"/>
              <a:t>String</a:t>
            </a:r>
            <a:r>
              <a:rPr lang="tr-TR" dirty="0"/>
              <a:t>(karakterler);</a:t>
            </a:r>
          </a:p>
          <a:p>
            <a:r>
              <a:rPr lang="tr-TR" dirty="0"/>
              <a:t>        jLabel1.setText(</a:t>
            </a:r>
            <a:r>
              <a:rPr lang="tr-TR" dirty="0" err="1"/>
              <a:t>sifre</a:t>
            </a:r>
            <a:r>
              <a:rPr lang="tr-TR" dirty="0"/>
              <a:t>);</a:t>
            </a:r>
          </a:p>
          <a:p>
            <a:r>
              <a:rPr lang="tr-TR" dirty="0"/>
              <a:t>    }                                                </a:t>
            </a:r>
          </a:p>
          <a:p>
            <a:endParaRPr lang="tr-TR" dirty="0"/>
          </a:p>
          <a:p>
            <a:r>
              <a:rPr lang="tr-TR" dirty="0"/>
              <a:t>    </a:t>
            </a:r>
            <a:r>
              <a:rPr lang="tr-TR" dirty="0" err="1"/>
              <a:t>private</a:t>
            </a:r>
            <a:r>
              <a:rPr lang="tr-TR" dirty="0"/>
              <a:t> </a:t>
            </a:r>
            <a:r>
              <a:rPr lang="tr-TR" dirty="0" err="1"/>
              <a:t>void</a:t>
            </a:r>
            <a:r>
              <a:rPr lang="tr-TR" dirty="0"/>
              <a:t> </a:t>
            </a:r>
            <a:r>
              <a:rPr lang="tr-TR" dirty="0" err="1"/>
              <a:t>jB_GosterActionPerformed</a:t>
            </a:r>
            <a:r>
              <a:rPr lang="tr-TR" dirty="0"/>
              <a:t>(</a:t>
            </a:r>
            <a:r>
              <a:rPr lang="tr-TR" dirty="0" err="1"/>
              <a:t>java.awt.event.ActionEvent</a:t>
            </a:r>
            <a:r>
              <a:rPr lang="tr-TR" dirty="0"/>
              <a:t> </a:t>
            </a:r>
            <a:r>
              <a:rPr lang="tr-TR" dirty="0" err="1"/>
              <a:t>evt</a:t>
            </a:r>
            <a:r>
              <a:rPr lang="tr-TR" dirty="0"/>
              <a:t>) {                                          </a:t>
            </a:r>
          </a:p>
          <a:p>
            <a:r>
              <a:rPr lang="tr-TR" dirty="0"/>
              <a:t>        </a:t>
            </a:r>
            <a:r>
              <a:rPr lang="tr-TR" dirty="0" err="1"/>
              <a:t>jP_SIFRE.setEchoChar</a:t>
            </a:r>
            <a:r>
              <a:rPr lang="tr-TR" dirty="0"/>
              <a:t>((</a:t>
            </a:r>
            <a:r>
              <a:rPr lang="tr-TR" dirty="0" err="1"/>
              <a:t>char</a:t>
            </a:r>
            <a:r>
              <a:rPr lang="tr-TR" dirty="0"/>
              <a:t>) 0);//şifreyi görünür yapmak burası 0 olmak zorunda  </a:t>
            </a:r>
          </a:p>
          <a:p>
            <a:r>
              <a:rPr lang="tr-TR" dirty="0"/>
              <a:t>    }                                         </a:t>
            </a:r>
          </a:p>
          <a:p>
            <a:endParaRPr lang="tr-TR" dirty="0"/>
          </a:p>
          <a:p>
            <a:r>
              <a:rPr lang="tr-TR" dirty="0"/>
              <a:t>    </a:t>
            </a:r>
            <a:r>
              <a:rPr lang="tr-TR" dirty="0" err="1"/>
              <a:t>private</a:t>
            </a:r>
            <a:r>
              <a:rPr lang="tr-TR" dirty="0"/>
              <a:t> </a:t>
            </a:r>
            <a:r>
              <a:rPr lang="tr-TR" dirty="0" err="1"/>
              <a:t>void</a:t>
            </a:r>
            <a:r>
              <a:rPr lang="tr-TR" dirty="0"/>
              <a:t> </a:t>
            </a:r>
            <a:r>
              <a:rPr lang="tr-TR" dirty="0" err="1"/>
              <a:t>jB_GizleActionPerformed</a:t>
            </a:r>
            <a:r>
              <a:rPr lang="tr-TR" dirty="0"/>
              <a:t>(</a:t>
            </a:r>
            <a:r>
              <a:rPr lang="tr-TR" dirty="0" err="1"/>
              <a:t>java.awt.event.ActionEvent</a:t>
            </a:r>
            <a:r>
              <a:rPr lang="tr-TR" dirty="0"/>
              <a:t> </a:t>
            </a:r>
            <a:r>
              <a:rPr lang="tr-TR" dirty="0" err="1"/>
              <a:t>evt</a:t>
            </a:r>
            <a:r>
              <a:rPr lang="tr-TR" dirty="0"/>
              <a:t>) {                                         </a:t>
            </a:r>
          </a:p>
          <a:p>
            <a:r>
              <a:rPr lang="tr-TR" dirty="0"/>
              <a:t>       </a:t>
            </a:r>
            <a:r>
              <a:rPr lang="tr-TR" dirty="0" err="1"/>
              <a:t>jP_SIFRE.setEchoChar</a:t>
            </a:r>
            <a:r>
              <a:rPr lang="tr-TR" dirty="0"/>
              <a:t>('*');//şifreyi gizli yapmak   </a:t>
            </a:r>
          </a:p>
          <a:p>
            <a:r>
              <a:rPr lang="tr-TR" dirty="0"/>
              <a:t>    }                                        </a:t>
            </a:r>
          </a:p>
          <a:p>
            <a:endParaRPr lang="tr-TR" dirty="0"/>
          </a:p>
          <a:p>
            <a:r>
              <a:rPr lang="tr-TR" dirty="0"/>
              <a:t>    </a:t>
            </a:r>
            <a:r>
              <a:rPr lang="tr-TR" dirty="0" err="1"/>
              <a:t>private</a:t>
            </a:r>
            <a:r>
              <a:rPr lang="tr-TR" dirty="0"/>
              <a:t> </a:t>
            </a:r>
            <a:r>
              <a:rPr lang="tr-TR" dirty="0" err="1"/>
              <a:t>void</a:t>
            </a:r>
            <a:r>
              <a:rPr lang="tr-TR" dirty="0"/>
              <a:t> </a:t>
            </a:r>
            <a:r>
              <a:rPr lang="tr-TR" dirty="0" err="1"/>
              <a:t>jB_MaskeleActionPerformed</a:t>
            </a:r>
            <a:r>
              <a:rPr lang="tr-TR" dirty="0"/>
              <a:t>(</a:t>
            </a:r>
            <a:r>
              <a:rPr lang="tr-TR" dirty="0" err="1"/>
              <a:t>java.awt.event.ActionEvent</a:t>
            </a:r>
            <a:r>
              <a:rPr lang="tr-TR" dirty="0"/>
              <a:t> </a:t>
            </a:r>
            <a:r>
              <a:rPr lang="tr-TR" dirty="0" err="1"/>
              <a:t>evt</a:t>
            </a:r>
            <a:r>
              <a:rPr lang="tr-TR" dirty="0"/>
              <a:t>) {                                           </a:t>
            </a:r>
          </a:p>
          <a:p>
            <a:r>
              <a:rPr lang="tr-TR" dirty="0"/>
              <a:t>        </a:t>
            </a:r>
            <a:r>
              <a:rPr lang="tr-TR" dirty="0" err="1"/>
              <a:t>jP_SIFRE.setEchoChar</a:t>
            </a:r>
            <a:r>
              <a:rPr lang="tr-TR" dirty="0"/>
              <a:t>('?');// şifreyi gizle</a:t>
            </a:r>
          </a:p>
          <a:p>
            <a:r>
              <a:rPr lang="tr-TR" dirty="0"/>
              <a:t>    }                                          </a:t>
            </a:r>
          </a:p>
          <a:p>
            <a:endParaRPr lang="tr-TR" dirty="0"/>
          </a:p>
          <a:p>
            <a:r>
              <a:rPr lang="tr-TR" dirty="0"/>
              <a:t>    </a:t>
            </a:r>
            <a:r>
              <a:rPr lang="tr-TR" dirty="0" err="1"/>
              <a:t>private</a:t>
            </a:r>
            <a:r>
              <a:rPr lang="tr-TR" dirty="0"/>
              <a:t> </a:t>
            </a:r>
            <a:r>
              <a:rPr lang="tr-TR" dirty="0" err="1"/>
              <a:t>void</a:t>
            </a:r>
            <a:r>
              <a:rPr lang="tr-TR" dirty="0"/>
              <a:t> </a:t>
            </a:r>
            <a:r>
              <a:rPr lang="tr-TR" dirty="0" err="1"/>
              <a:t>jB_DegistirActionPerformed</a:t>
            </a:r>
            <a:r>
              <a:rPr lang="tr-TR" dirty="0"/>
              <a:t>(</a:t>
            </a:r>
            <a:r>
              <a:rPr lang="tr-TR" dirty="0" err="1"/>
              <a:t>java.awt.event.ActionEvent</a:t>
            </a:r>
            <a:r>
              <a:rPr lang="tr-TR" dirty="0"/>
              <a:t> </a:t>
            </a:r>
            <a:r>
              <a:rPr lang="tr-TR" dirty="0" err="1"/>
              <a:t>evt</a:t>
            </a:r>
            <a:r>
              <a:rPr lang="tr-TR" dirty="0"/>
              <a:t>) {                                            </a:t>
            </a:r>
          </a:p>
          <a:p>
            <a:r>
              <a:rPr lang="tr-TR" dirty="0"/>
              <a:t>        </a:t>
            </a:r>
            <a:r>
              <a:rPr lang="tr-TR" dirty="0" err="1"/>
              <a:t>jP_SIFRE.setText</a:t>
            </a:r>
            <a:r>
              <a:rPr lang="tr-TR" dirty="0"/>
              <a:t>("12345");// otomatik şifre ayarla</a:t>
            </a:r>
          </a:p>
          <a:p>
            <a:r>
              <a:rPr lang="tr-TR" dirty="0"/>
              <a:t>    }                                           </a:t>
            </a:r>
          </a:p>
          <a:p>
            <a:endParaRPr lang="tr-TR" dirty="0"/>
          </a:p>
          <a:p>
            <a:r>
              <a:rPr lang="tr-TR" dirty="0"/>
              <a:t>    </a:t>
            </a:r>
            <a:r>
              <a:rPr lang="tr-TR" dirty="0" err="1"/>
              <a:t>public</a:t>
            </a:r>
            <a:r>
              <a:rPr lang="tr-TR" dirty="0"/>
              <a:t> </a:t>
            </a:r>
            <a:r>
              <a:rPr lang="tr-TR" dirty="0" err="1"/>
              <a:t>static</a:t>
            </a:r>
            <a:r>
              <a:rPr lang="tr-TR" dirty="0"/>
              <a:t> </a:t>
            </a:r>
            <a:r>
              <a:rPr lang="tr-TR" dirty="0" err="1"/>
              <a:t>void</a:t>
            </a:r>
            <a:r>
              <a:rPr lang="tr-TR" dirty="0"/>
              <a:t> main(</a:t>
            </a:r>
            <a:r>
              <a:rPr lang="tr-TR" dirty="0" err="1"/>
              <a:t>String</a:t>
            </a:r>
            <a:r>
              <a:rPr lang="tr-TR" dirty="0"/>
              <a:t> </a:t>
            </a:r>
            <a:r>
              <a:rPr lang="tr-TR" dirty="0" err="1"/>
              <a:t>args</a:t>
            </a:r>
            <a:r>
              <a:rPr lang="tr-TR" dirty="0"/>
              <a:t>[]) {</a:t>
            </a:r>
          </a:p>
          <a:p>
            <a:r>
              <a:rPr lang="tr-TR" dirty="0"/>
              <a:t>        </a:t>
            </a:r>
            <a:r>
              <a:rPr lang="tr-TR" dirty="0" err="1"/>
              <a:t>java.awt.EventQueue.invokeLater</a:t>
            </a:r>
            <a:r>
              <a:rPr lang="tr-TR" dirty="0"/>
              <a:t>(() -&gt; </a:t>
            </a:r>
            <a:r>
              <a:rPr lang="tr-TR" dirty="0" err="1"/>
              <a:t>new</a:t>
            </a:r>
            <a:r>
              <a:rPr lang="tr-TR" dirty="0"/>
              <a:t> NewJFrame9().</a:t>
            </a:r>
            <a:r>
              <a:rPr lang="tr-TR" dirty="0" err="1"/>
              <a:t>setVisible</a:t>
            </a:r>
            <a:r>
              <a:rPr lang="tr-TR" dirty="0"/>
              <a:t>(</a:t>
            </a:r>
            <a:r>
              <a:rPr lang="tr-TR" dirty="0" err="1"/>
              <a:t>true</a:t>
            </a:r>
            <a:r>
              <a:rPr lang="tr-TR" dirty="0"/>
              <a:t>));</a:t>
            </a:r>
          </a:p>
          <a:p>
            <a:r>
              <a:rPr lang="tr-TR" dirty="0"/>
              <a:t>    }</a:t>
            </a:r>
          </a:p>
        </p:txBody>
      </p:sp>
      <p:sp>
        <p:nvSpPr>
          <p:cNvPr id="5" name="Dikdörtgen 4"/>
          <p:cNvSpPr/>
          <p:nvPr/>
        </p:nvSpPr>
        <p:spPr>
          <a:xfrm>
            <a:off x="8072365" y="2932450"/>
            <a:ext cx="399068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 smtClean="0"/>
              <a:t>Arkadaşlar ;</a:t>
            </a:r>
          </a:p>
          <a:p>
            <a:r>
              <a:rPr lang="tr-TR" dirty="0" err="1" smtClean="0"/>
              <a:t>PassWord</a:t>
            </a:r>
            <a:r>
              <a:rPr lang="tr-TR" dirty="0" smtClean="0"/>
              <a:t> çok özel olduğu için </a:t>
            </a:r>
          </a:p>
          <a:p>
            <a:r>
              <a:rPr lang="tr-TR" dirty="0"/>
              <a:t>d</a:t>
            </a:r>
            <a:r>
              <a:rPr lang="tr-TR" dirty="0" smtClean="0"/>
              <a:t>oğrudan erişime geçemeyiz bunun için </a:t>
            </a:r>
          </a:p>
          <a:p>
            <a:r>
              <a:rPr lang="tr-TR" dirty="0" smtClean="0"/>
              <a:t>Ona bir obje atamamız gerek </a:t>
            </a:r>
          </a:p>
          <a:p>
            <a:r>
              <a:rPr lang="tr-TR" dirty="0" smtClean="0"/>
              <a:t>Örneğin yukarıda onu </a:t>
            </a:r>
            <a:r>
              <a:rPr lang="tr-TR" dirty="0" err="1" smtClean="0"/>
              <a:t>char</a:t>
            </a:r>
            <a:r>
              <a:rPr lang="tr-TR" dirty="0" smtClean="0"/>
              <a:t>[] ayarlamışız</a:t>
            </a:r>
            <a:r>
              <a:rPr lang="tr-TR" dirty="0" smtClean="0">
                <a:sym typeface="Wingdings" panose="05000000000000000000" pitchFamily="2" charset="2"/>
              </a:rPr>
              <a:t>（*＾-＾*）</a:t>
            </a:r>
          </a:p>
          <a:p>
            <a:endParaRPr lang="tr-TR" dirty="0">
              <a:sym typeface="Wingdings" panose="05000000000000000000" pitchFamily="2" charset="2"/>
            </a:endParaRPr>
          </a:p>
          <a:p>
            <a:r>
              <a:rPr lang="tr-TR" dirty="0" smtClean="0">
                <a:sym typeface="Wingdings" panose="05000000000000000000" pitchFamily="2" charset="2"/>
              </a:rPr>
              <a:t>Sonraki sayfada ek bir örnek koydum ^_~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89647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75000"/>
              </a:schemeClr>
            </a:gs>
            <a:gs pos="100000">
              <a:srgbClr val="D3D0CF"/>
            </a:gs>
            <a:gs pos="27000">
              <a:schemeClr val="accent1">
                <a:lumMod val="30000"/>
                <a:lumOff val="70000"/>
              </a:schemeClr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8523" y="0"/>
            <a:ext cx="3722911" cy="3510907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822" y="81907"/>
            <a:ext cx="8658184" cy="6858000"/>
          </a:xfrm>
          <a:prstGeom prst="rect">
            <a:avLst/>
          </a:prstGeom>
        </p:spPr>
      </p:pic>
      <p:sp>
        <p:nvSpPr>
          <p:cNvPr id="5" name="Dikdörtgen 4"/>
          <p:cNvSpPr/>
          <p:nvPr/>
        </p:nvSpPr>
        <p:spPr>
          <a:xfrm>
            <a:off x="8549324" y="3592814"/>
            <a:ext cx="376995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 err="1" smtClean="0"/>
              <a:t>JOptionPane.showMessageDialog</a:t>
            </a:r>
            <a:r>
              <a:rPr lang="tr-TR" dirty="0" smtClean="0"/>
              <a:t>();</a:t>
            </a:r>
          </a:p>
          <a:p>
            <a:r>
              <a:rPr lang="tr-TR" dirty="0" smtClean="0"/>
              <a:t>Kullanıcı ile </a:t>
            </a:r>
            <a:r>
              <a:rPr lang="tr-TR" dirty="0" err="1" smtClean="0"/>
              <a:t>arayüz</a:t>
            </a:r>
            <a:r>
              <a:rPr lang="tr-TR" dirty="0" smtClean="0"/>
              <a:t> arsında doğrudan ilişki kurar</a:t>
            </a:r>
          </a:p>
          <a:p>
            <a:endParaRPr lang="tr-TR" dirty="0"/>
          </a:p>
          <a:p>
            <a:endParaRPr lang="tr-TR" dirty="0" smtClean="0"/>
          </a:p>
          <a:p>
            <a:r>
              <a:rPr lang="tr-TR" dirty="0" smtClean="0"/>
              <a:t>Birinci sayı girişi yapılır </a:t>
            </a:r>
          </a:p>
          <a:p>
            <a:r>
              <a:rPr lang="tr-TR" dirty="0" smtClean="0"/>
              <a:t>İkinci sayı girişi yapılır</a:t>
            </a:r>
          </a:p>
          <a:p>
            <a:endParaRPr lang="tr-TR" dirty="0"/>
          </a:p>
          <a:p>
            <a:r>
              <a:rPr lang="tr-TR" dirty="0" smtClean="0"/>
              <a:t>İkinci sayı birinci sayıdan büyük olmalı</a:t>
            </a:r>
          </a:p>
          <a:p>
            <a:r>
              <a:rPr lang="tr-TR" dirty="0" smtClean="0"/>
              <a:t>Aralarındaki asal sayı sayısı yazılır</a:t>
            </a:r>
          </a:p>
        </p:txBody>
      </p:sp>
    </p:spTree>
    <p:extLst>
      <p:ext uri="{BB962C8B-B14F-4D97-AF65-F5344CB8AC3E}">
        <p14:creationId xmlns:p14="http://schemas.microsoft.com/office/powerpoint/2010/main" val="1373005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73824" cy="6240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417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62" y="-535519"/>
            <a:ext cx="12098438" cy="7868748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3448" y="131162"/>
            <a:ext cx="3831771" cy="2696431"/>
          </a:xfrm>
          <a:prstGeom prst="rect">
            <a:avLst/>
          </a:prstGeom>
        </p:spPr>
      </p:pic>
      <p:sp>
        <p:nvSpPr>
          <p:cNvPr id="5" name="Dikdörtgen 4"/>
          <p:cNvSpPr/>
          <p:nvPr/>
        </p:nvSpPr>
        <p:spPr>
          <a:xfrm>
            <a:off x="8098971" y="3244334"/>
            <a:ext cx="40462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 smtClean="0"/>
              <a:t>Seçili eleman </a:t>
            </a:r>
            <a:r>
              <a:rPr lang="tr-TR" dirty="0" err="1" smtClean="0"/>
              <a:t>indexleri</a:t>
            </a:r>
            <a:r>
              <a:rPr lang="tr-TR" dirty="0" smtClean="0"/>
              <a:t> için </a:t>
            </a:r>
            <a:r>
              <a:rPr lang="tr-TR" dirty="0" err="1" smtClean="0"/>
              <a:t>ArrayList</a:t>
            </a:r>
            <a:r>
              <a:rPr lang="tr-TR" dirty="0" smtClean="0"/>
              <a:t> kullandık ve bunu model ile tasarladık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9425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3299" y="-405348"/>
            <a:ext cx="12698597" cy="7668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6759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75000"/>
              </a:schemeClr>
            </a:gs>
            <a:gs pos="100000">
              <a:srgbClr val="D3D0CF"/>
            </a:gs>
            <a:gs pos="27000">
              <a:schemeClr val="accent1">
                <a:lumMod val="30000"/>
                <a:lumOff val="70000"/>
              </a:schemeClr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119068" cy="7596554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477" y="0"/>
            <a:ext cx="4167523" cy="3532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9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387"/>
            <a:ext cx="12355649" cy="6639852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1593" y="984738"/>
            <a:ext cx="3520407" cy="2934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2013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822"/>
            <a:ext cx="12703002" cy="6858000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3998" y="4082932"/>
            <a:ext cx="3811435" cy="2945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3745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47974" cy="6712299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1995" y="822697"/>
            <a:ext cx="3620005" cy="316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7735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868" y="0"/>
            <a:ext cx="9470292" cy="6591719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4020" y="0"/>
            <a:ext cx="3807980" cy="2786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6080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450286" cy="6857999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2840" y="0"/>
            <a:ext cx="3289160" cy="3434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3790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126488" cy="6501284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9141" y="1225898"/>
            <a:ext cx="3889328" cy="2920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8449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1556"/>
            <a:ext cx="12088168" cy="6783294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494" y="4752871"/>
            <a:ext cx="5191506" cy="193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616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505</TotalTime>
  <Words>910</Words>
  <Application>Microsoft Office PowerPoint</Application>
  <PresentationFormat>Geniş ekran</PresentationFormat>
  <Paragraphs>232</Paragraphs>
  <Slides>26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Wingdings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VICTUS</dc:creator>
  <cp:lastModifiedBy>VICTUS</cp:lastModifiedBy>
  <cp:revision>27</cp:revision>
  <dcterms:created xsi:type="dcterms:W3CDTF">2026-03-23T16:57:05Z</dcterms:created>
  <dcterms:modified xsi:type="dcterms:W3CDTF">2026-03-24T23:25:40Z</dcterms:modified>
</cp:coreProperties>
</file>